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Dela Gothic One"/>
      <p:regular r:id="rId22"/>
    </p:embeddedFont>
    <p:embeddedFont>
      <p:font typeface="Fira Sans Medium"/>
      <p:regular r:id="rId23"/>
      <p:bold r:id="rId24"/>
      <p:italic r:id="rId25"/>
      <p:boldItalic r:id="rId26"/>
    </p:embeddedFont>
    <p:embeddedFont>
      <p:font typeface="Fira Sans SemiBold"/>
      <p:regular r:id="rId27"/>
      <p:bold r:id="rId28"/>
      <p:italic r:id="rId29"/>
      <p:boldItalic r:id="rId30"/>
    </p:embeddedFont>
    <p:embeddedFont>
      <p:font typeface="Fira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DelaGothicOne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FiraSansMedium-bold.fntdata"/><Relationship Id="rId23" Type="http://schemas.openxmlformats.org/officeDocument/2006/relationships/font" Target="fonts/Fira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Medium-boldItalic.fntdata"/><Relationship Id="rId25" Type="http://schemas.openxmlformats.org/officeDocument/2006/relationships/font" Target="fonts/FiraSansMedium-italic.fntdata"/><Relationship Id="rId28" Type="http://schemas.openxmlformats.org/officeDocument/2006/relationships/font" Target="fonts/FiraSansSemiBold-bold.fntdata"/><Relationship Id="rId27" Type="http://schemas.openxmlformats.org/officeDocument/2006/relationships/font" Target="fonts/FiraSans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-regular.fntdata"/><Relationship Id="rId30" Type="http://schemas.openxmlformats.org/officeDocument/2006/relationships/font" Target="fonts/FiraSans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FiraSans-italic.fntdata"/><Relationship Id="rId10" Type="http://schemas.openxmlformats.org/officeDocument/2006/relationships/slide" Target="slides/slide4.xml"/><Relationship Id="rId32" Type="http://schemas.openxmlformats.org/officeDocument/2006/relationships/font" Target="fonts/Fira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Fira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bcb949a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bcb949a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bcb949a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bcb949a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bcb949a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bcb949a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cc7a9c45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cc7a9c45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bcb949a9e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bcb949a9e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9f5d20700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39f5d2070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9f5d2070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9f5d2070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38bcb949a9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38bcb949a9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8bcb949a9e_0_2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38bcb949a9e_0_2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8bcb949a9e_0_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8bcb949a9e_0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0" y="2020175"/>
            <a:ext cx="5807400" cy="7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latin typeface="Dela Gothic One"/>
                <a:ea typeface="Dela Gothic One"/>
                <a:cs typeface="Dela Gothic One"/>
                <a:sym typeface="Dela Gothic One"/>
              </a:rPr>
              <a:t>Электротехник</a:t>
            </a:r>
            <a:endParaRPr sz="36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100" name="Google Shape;100;p25"/>
          <p:cNvGrpSpPr/>
          <p:nvPr/>
        </p:nvGrpSpPr>
        <p:grpSpPr>
          <a:xfrm>
            <a:off x="4644506" y="1678670"/>
            <a:ext cx="4207415" cy="2966160"/>
            <a:chOff x="2523825" y="1354400"/>
            <a:chExt cx="4476450" cy="3155825"/>
          </a:xfrm>
        </p:grpSpPr>
        <p:sp>
          <p:nvSpPr>
            <p:cNvPr id="101" name="Google Shape;101;p25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5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5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5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5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5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5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5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5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5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5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5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5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5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5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5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5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5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5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5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5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5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5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5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5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5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5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5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5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5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5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5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5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5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5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5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5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5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5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5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5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5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400" y="903900"/>
            <a:ext cx="4239601" cy="423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type="title"/>
          </p:nvPr>
        </p:nvSpPr>
        <p:spPr>
          <a:xfrm>
            <a:off x="251050" y="1094850"/>
            <a:ext cx="5382600" cy="29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latin typeface="Montserrat"/>
                <a:ea typeface="Montserrat"/>
                <a:cs typeface="Montserrat"/>
                <a:sym typeface="Montserrat"/>
              </a:rPr>
              <a:t>   Электротехник </a:t>
            </a:r>
            <a:r>
              <a:rPr lang="ru" sz="1800">
                <a:latin typeface="Montserrat"/>
                <a:ea typeface="Montserrat"/>
                <a:cs typeface="Montserrat"/>
                <a:sym typeface="Montserrat"/>
              </a:rPr>
              <a:t>- это технический специалист по проектированию, производству и эксплуатации электротехнических изделий. Номенклатура таких изделий необычайно широка - от электродвигателей и силовых трансформаторов до бытовых электрических приборов и промышленной электроники.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832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160425" y="1120725"/>
            <a:ext cx="459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Вторая половина XIX века — изобретения Томаса Эдисона, Николы Теслы, Павла Яблочкова позволили использовать электричество для освещения городов, промышленных предприятий, жилых домов. Начали появляться первые электростанции, линии электропередач, и кто-то должен был их обслуживать.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Профессия электротехника появилась в конце XIX столетия, когда началось использование электроэнергии, электрических станций. Для их контроля необходимы были люди, которые занимались обслуживанием и следили за их работой. Современный мир невозможно представить без электричества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25" y="1200425"/>
            <a:ext cx="4190975" cy="300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663900" y="295500"/>
            <a:ext cx="20184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1087300" y="1045050"/>
            <a:ext cx="18870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Обслуживание и ремонт электрооборудования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1147550" y="3194788"/>
            <a:ext cx="17100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новых технологий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6444400" y="1016688"/>
            <a:ext cx="21408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электрических систем и устройств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6488650" y="3126725"/>
            <a:ext cx="2018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Установка и подключение электрического оборудования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2691100" y="2126900"/>
            <a:ext cx="306000" cy="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3707425" y="25478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3668582" y="28637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3641800" y="22220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3890950" y="225503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3753594" y="21773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38" name="Google Shape;238;p28"/>
          <p:cNvGrpSpPr/>
          <p:nvPr/>
        </p:nvGrpSpPr>
        <p:grpSpPr>
          <a:xfrm>
            <a:off x="8258889" y="1252887"/>
            <a:ext cx="630131" cy="630104"/>
            <a:chOff x="6323089" y="2499219"/>
            <a:chExt cx="630131" cy="630104"/>
          </a:xfrm>
        </p:grpSpPr>
        <p:sp>
          <p:nvSpPr>
            <p:cNvPr id="239" name="Google Shape;239;p28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28"/>
          <p:cNvGrpSpPr/>
          <p:nvPr/>
        </p:nvGrpSpPr>
        <p:grpSpPr>
          <a:xfrm>
            <a:off x="457201" y="1361318"/>
            <a:ext cx="630104" cy="630131"/>
            <a:chOff x="2190776" y="1361318"/>
            <a:chExt cx="630104" cy="630131"/>
          </a:xfrm>
        </p:grpSpPr>
        <p:sp>
          <p:nvSpPr>
            <p:cNvPr id="245" name="Google Shape;245;p28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8371738" y="3396493"/>
            <a:ext cx="630104" cy="630131"/>
            <a:chOff x="2190776" y="3637093"/>
            <a:chExt cx="630104" cy="630131"/>
          </a:xfrm>
        </p:grpSpPr>
        <p:sp>
          <p:nvSpPr>
            <p:cNvPr id="253" name="Google Shape;253;p28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457176" y="3194806"/>
            <a:ext cx="630104" cy="630104"/>
            <a:chOff x="2190776" y="2499219"/>
            <a:chExt cx="630104" cy="630104"/>
          </a:xfrm>
        </p:grpSpPr>
        <p:sp>
          <p:nvSpPr>
            <p:cNvPr id="258" name="Google Shape;258;p28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8"/>
          <p:cNvGrpSpPr/>
          <p:nvPr/>
        </p:nvGrpSpPr>
        <p:grpSpPr>
          <a:xfrm>
            <a:off x="2968732" y="1375162"/>
            <a:ext cx="3408752" cy="2878229"/>
            <a:chOff x="2820853" y="1403508"/>
            <a:chExt cx="3502263" cy="2951424"/>
          </a:xfrm>
        </p:grpSpPr>
        <p:sp>
          <p:nvSpPr>
            <p:cNvPr id="264" name="Google Shape;264;p28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8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8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2292300" y="203350"/>
            <a:ext cx="455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 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151275" y="967600"/>
            <a:ext cx="2967300" cy="16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E69138"/>
                </a:solidFill>
                <a:latin typeface="Montserrat"/>
                <a:ea typeface="Montserrat"/>
                <a:cs typeface="Montserrat"/>
                <a:sym typeface="Montserrat"/>
              </a:rPr>
              <a:t>Глубокие теоретические знания</a:t>
            </a:r>
            <a:endParaRPr b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Понимание принципов электротехники, электрических величин и принципов работы схем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151275" y="3498750"/>
            <a:ext cx="2967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Технические навыки</a:t>
            </a:r>
            <a:endParaRPr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Умение читать чертежи, работать с электрооборудованием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6366550" y="922150"/>
            <a:ext cx="2739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Ответственность и внимание к деталям: </a:t>
            </a:r>
            <a:endParaRPr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Работа требует высокой аккуратности, так как ошибки могут иметь серьезные последствия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6252850" y="3685075"/>
            <a:ext cx="2967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30475E"/>
                </a:solidFill>
                <a:latin typeface="Montserrat"/>
                <a:ea typeface="Montserrat"/>
                <a:cs typeface="Montserrat"/>
                <a:sym typeface="Montserrat"/>
              </a:rPr>
              <a:t>Обучаемость</a:t>
            </a:r>
            <a:endParaRPr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Готовность к постоянному обучению и освоению новых технологий</a:t>
            </a:r>
            <a:endParaRPr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21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0" i="0" sz="21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65" name="Google Shape;365;p29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29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67" name="Google Shape;367;p29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/>
          <p:nvPr/>
        </p:nvSpPr>
        <p:spPr>
          <a:xfrm>
            <a:off x="556069" y="237175"/>
            <a:ext cx="77235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Специализации 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390" name="Google Shape;390;p30"/>
          <p:cNvGrpSpPr/>
          <p:nvPr/>
        </p:nvGrpSpPr>
        <p:grpSpPr>
          <a:xfrm>
            <a:off x="456554" y="892682"/>
            <a:ext cx="8305869" cy="3858239"/>
            <a:chOff x="595975" y="1532525"/>
            <a:chExt cx="6468241" cy="3004625"/>
          </a:xfrm>
        </p:grpSpPr>
        <p:sp>
          <p:nvSpPr>
            <p:cNvPr id="391" name="Google Shape;391;p30"/>
            <p:cNvSpPr/>
            <p:nvPr/>
          </p:nvSpPr>
          <p:spPr>
            <a:xfrm>
              <a:off x="3743877" y="2501603"/>
              <a:ext cx="3320339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4059775" y="2621950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3771600" y="27620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4666080" y="2530631"/>
              <a:ext cx="2341950" cy="510459"/>
            </a:xfrm>
            <a:custGeom>
              <a:rect b="b" l="l" r="r" t="t"/>
              <a:pathLst>
                <a:path extrusionOk="0" h="20681" w="93678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595975" y="2017050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3178575" y="2137375"/>
              <a:ext cx="386400" cy="341300"/>
            </a:xfrm>
            <a:custGeom>
              <a:rect b="b" l="l" r="r" t="t"/>
              <a:pathLst>
                <a:path extrusionOk="0" h="13652" w="15456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3769225" y="22775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3365425" y="2215000"/>
              <a:ext cx="8750" cy="9525"/>
            </a:xfrm>
            <a:custGeom>
              <a:rect b="b" l="l" r="r" t="t"/>
              <a:pathLst>
                <a:path extrusionOk="0" h="381" w="35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3427200" y="2240925"/>
              <a:ext cx="9525" cy="9325"/>
            </a:xfrm>
            <a:custGeom>
              <a:rect b="b" l="l" r="r" t="t"/>
              <a:pathLst>
                <a:path extrusionOk="0" h="373" w="381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3453325" y="2302875"/>
              <a:ext cx="8725" cy="9525"/>
            </a:xfrm>
            <a:custGeom>
              <a:rect b="b" l="l" r="r" t="t"/>
              <a:pathLst>
                <a:path extrusionOk="0" h="381" w="349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3427200" y="2365425"/>
              <a:ext cx="9525" cy="9525"/>
            </a:xfrm>
            <a:custGeom>
              <a:rect b="b" l="l" r="r" t="t"/>
              <a:pathLst>
                <a:path extrusionOk="0" h="381" w="381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3365425" y="2391550"/>
              <a:ext cx="8750" cy="8725"/>
            </a:xfrm>
            <a:custGeom>
              <a:rect b="b" l="l" r="r" t="t"/>
              <a:pathLst>
                <a:path extrusionOk="0" h="349" w="35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3302100" y="2365825"/>
              <a:ext cx="10300" cy="8725"/>
            </a:xfrm>
            <a:custGeom>
              <a:rect b="b" l="l" r="r" t="t"/>
              <a:pathLst>
                <a:path extrusionOk="0" h="349" w="412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3276750" y="230367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3302875" y="2241125"/>
              <a:ext cx="9525" cy="8725"/>
            </a:xfrm>
            <a:custGeom>
              <a:rect b="b" l="l" r="r" t="t"/>
              <a:pathLst>
                <a:path extrusionOk="0" h="349" w="381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h="8995" w="8995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h="349" w="32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h="349" w="33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h="381" w="33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h="381" w="32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0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0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0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h="413" w="32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0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0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h="413" w="33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0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0"/>
            <p:cNvSpPr/>
            <p:nvPr/>
          </p:nvSpPr>
          <p:spPr>
            <a:xfrm>
              <a:off x="3256975" y="2195200"/>
              <a:ext cx="224875" cy="224875"/>
            </a:xfrm>
            <a:custGeom>
              <a:rect b="b" l="l" r="r" t="t"/>
              <a:pathLst>
                <a:path extrusionOk="0" fill="none" h="8995" w="8995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0"/>
            <p:cNvSpPr/>
            <p:nvPr/>
          </p:nvSpPr>
          <p:spPr>
            <a:xfrm>
              <a:off x="33654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0"/>
            <p:cNvSpPr/>
            <p:nvPr/>
          </p:nvSpPr>
          <p:spPr>
            <a:xfrm>
              <a:off x="33662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0"/>
            <p:cNvSpPr/>
            <p:nvPr/>
          </p:nvSpPr>
          <p:spPr>
            <a:xfrm>
              <a:off x="336622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0"/>
            <p:cNvSpPr/>
            <p:nvPr/>
          </p:nvSpPr>
          <p:spPr>
            <a:xfrm>
              <a:off x="336702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0"/>
            <p:cNvSpPr/>
            <p:nvPr/>
          </p:nvSpPr>
          <p:spPr>
            <a:xfrm>
              <a:off x="33678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0"/>
            <p:cNvSpPr/>
            <p:nvPr/>
          </p:nvSpPr>
          <p:spPr>
            <a:xfrm>
              <a:off x="33678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0"/>
            <p:cNvSpPr/>
            <p:nvPr/>
          </p:nvSpPr>
          <p:spPr>
            <a:xfrm>
              <a:off x="33686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336860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0"/>
            <p:cNvSpPr/>
            <p:nvPr/>
          </p:nvSpPr>
          <p:spPr>
            <a:xfrm>
              <a:off x="336940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0"/>
            <p:cNvSpPr/>
            <p:nvPr/>
          </p:nvSpPr>
          <p:spPr>
            <a:xfrm>
              <a:off x="3369400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0"/>
            <p:cNvSpPr/>
            <p:nvPr/>
          </p:nvSpPr>
          <p:spPr>
            <a:xfrm>
              <a:off x="33701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0"/>
            <p:cNvSpPr/>
            <p:nvPr/>
          </p:nvSpPr>
          <p:spPr>
            <a:xfrm>
              <a:off x="3370175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0"/>
            <p:cNvSpPr/>
            <p:nvPr/>
          </p:nvSpPr>
          <p:spPr>
            <a:xfrm>
              <a:off x="33709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0"/>
            <p:cNvSpPr/>
            <p:nvPr/>
          </p:nvSpPr>
          <p:spPr>
            <a:xfrm>
              <a:off x="3371775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3371775" y="2215000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0"/>
            <p:cNvSpPr/>
            <p:nvPr/>
          </p:nvSpPr>
          <p:spPr>
            <a:xfrm>
              <a:off x="33725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0"/>
            <p:cNvSpPr/>
            <p:nvPr/>
          </p:nvSpPr>
          <p:spPr>
            <a:xfrm>
              <a:off x="33725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33733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3373350" y="2215000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3374150" y="2215000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3427200" y="22403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0"/>
            <p:cNvSpPr/>
            <p:nvPr/>
          </p:nvSpPr>
          <p:spPr>
            <a:xfrm>
              <a:off x="34272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0"/>
            <p:cNvSpPr/>
            <p:nvPr/>
          </p:nvSpPr>
          <p:spPr>
            <a:xfrm>
              <a:off x="34279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0"/>
            <p:cNvSpPr/>
            <p:nvPr/>
          </p:nvSpPr>
          <p:spPr>
            <a:xfrm>
              <a:off x="34279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>
              <a:off x="34287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34287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34295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342957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34303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34303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34311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>
              <a:off x="34311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>
              <a:off x="34319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34319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34327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34327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4335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4343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34343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0"/>
            <p:cNvSpPr/>
            <p:nvPr/>
          </p:nvSpPr>
          <p:spPr>
            <a:xfrm>
              <a:off x="34351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34359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34367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3453325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34533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34533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3454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34541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34549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34549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34557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34557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3456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0"/>
            <p:cNvSpPr/>
            <p:nvPr/>
          </p:nvSpPr>
          <p:spPr>
            <a:xfrm>
              <a:off x="34564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0"/>
            <p:cNvSpPr/>
            <p:nvPr/>
          </p:nvSpPr>
          <p:spPr>
            <a:xfrm>
              <a:off x="34572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0"/>
            <p:cNvSpPr/>
            <p:nvPr/>
          </p:nvSpPr>
          <p:spPr>
            <a:xfrm>
              <a:off x="345727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0"/>
            <p:cNvSpPr/>
            <p:nvPr/>
          </p:nvSpPr>
          <p:spPr>
            <a:xfrm>
              <a:off x="34580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0"/>
            <p:cNvSpPr/>
            <p:nvPr/>
          </p:nvSpPr>
          <p:spPr>
            <a:xfrm>
              <a:off x="34580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0"/>
            <p:cNvSpPr/>
            <p:nvPr/>
          </p:nvSpPr>
          <p:spPr>
            <a:xfrm>
              <a:off x="34588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0"/>
            <p:cNvSpPr/>
            <p:nvPr/>
          </p:nvSpPr>
          <p:spPr>
            <a:xfrm>
              <a:off x="34596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34596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34604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34612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>
              <a:off x="34620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>
              <a:off x="3427200" y="2364625"/>
              <a:ext cx="0" cy="10325"/>
            </a:xfrm>
            <a:custGeom>
              <a:rect b="b" l="l" r="r" t="t"/>
              <a:pathLst>
                <a:path extrusionOk="0" fill="none" h="413" w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34272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34279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34279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34287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34287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34295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342957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34303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34303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34311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34311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34319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34319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34327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34327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34335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34343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34343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0"/>
            <p:cNvSpPr/>
            <p:nvPr/>
          </p:nvSpPr>
          <p:spPr>
            <a:xfrm>
              <a:off x="34351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34359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0"/>
            <p:cNvSpPr/>
            <p:nvPr/>
          </p:nvSpPr>
          <p:spPr>
            <a:xfrm>
              <a:off x="34367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0"/>
            <p:cNvSpPr/>
            <p:nvPr/>
          </p:nvSpPr>
          <p:spPr>
            <a:xfrm>
              <a:off x="33654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33662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336622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336702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33678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33678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33686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336860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336940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3369400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33701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3370175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0"/>
            <p:cNvSpPr/>
            <p:nvPr/>
          </p:nvSpPr>
          <p:spPr>
            <a:xfrm>
              <a:off x="33709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0"/>
            <p:cNvSpPr/>
            <p:nvPr/>
          </p:nvSpPr>
          <p:spPr>
            <a:xfrm>
              <a:off x="3371775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0"/>
            <p:cNvSpPr/>
            <p:nvPr/>
          </p:nvSpPr>
          <p:spPr>
            <a:xfrm>
              <a:off x="3371775" y="2391550"/>
              <a:ext cx="800" cy="8725"/>
            </a:xfrm>
            <a:custGeom>
              <a:rect b="b" l="l" r="r" t="t"/>
              <a:pathLst>
                <a:path extrusionOk="0" fill="none" h="349" w="32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0"/>
            <p:cNvSpPr/>
            <p:nvPr/>
          </p:nvSpPr>
          <p:spPr>
            <a:xfrm>
              <a:off x="33725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0"/>
            <p:cNvSpPr/>
            <p:nvPr/>
          </p:nvSpPr>
          <p:spPr>
            <a:xfrm>
              <a:off x="33725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0"/>
            <p:cNvSpPr/>
            <p:nvPr/>
          </p:nvSpPr>
          <p:spPr>
            <a:xfrm>
              <a:off x="33733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0"/>
            <p:cNvSpPr/>
            <p:nvPr/>
          </p:nvSpPr>
          <p:spPr>
            <a:xfrm>
              <a:off x="3373350" y="2391550"/>
              <a:ext cx="825" cy="8725"/>
            </a:xfrm>
            <a:custGeom>
              <a:rect b="b" l="l" r="r" t="t"/>
              <a:pathLst>
                <a:path extrusionOk="0" fill="none" h="349" w="33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0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0"/>
            <p:cNvSpPr/>
            <p:nvPr/>
          </p:nvSpPr>
          <p:spPr>
            <a:xfrm>
              <a:off x="3374150" y="2391550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30210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0"/>
            <p:cNvSpPr/>
            <p:nvPr/>
          </p:nvSpPr>
          <p:spPr>
            <a:xfrm>
              <a:off x="33028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0"/>
            <p:cNvSpPr/>
            <p:nvPr/>
          </p:nvSpPr>
          <p:spPr>
            <a:xfrm>
              <a:off x="33028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0"/>
            <p:cNvSpPr/>
            <p:nvPr/>
          </p:nvSpPr>
          <p:spPr>
            <a:xfrm>
              <a:off x="33036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0"/>
            <p:cNvSpPr/>
            <p:nvPr/>
          </p:nvSpPr>
          <p:spPr>
            <a:xfrm>
              <a:off x="330367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0"/>
            <p:cNvSpPr/>
            <p:nvPr/>
          </p:nvSpPr>
          <p:spPr>
            <a:xfrm>
              <a:off x="33044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0"/>
            <p:cNvSpPr/>
            <p:nvPr/>
          </p:nvSpPr>
          <p:spPr>
            <a:xfrm>
              <a:off x="33052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0"/>
            <p:cNvSpPr/>
            <p:nvPr/>
          </p:nvSpPr>
          <p:spPr>
            <a:xfrm>
              <a:off x="33052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0"/>
            <p:cNvSpPr/>
            <p:nvPr/>
          </p:nvSpPr>
          <p:spPr>
            <a:xfrm>
              <a:off x="33060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0"/>
            <p:cNvSpPr/>
            <p:nvPr/>
          </p:nvSpPr>
          <p:spPr>
            <a:xfrm>
              <a:off x="330605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0"/>
            <p:cNvSpPr/>
            <p:nvPr/>
          </p:nvSpPr>
          <p:spPr>
            <a:xfrm>
              <a:off x="330685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0"/>
            <p:cNvSpPr/>
            <p:nvPr/>
          </p:nvSpPr>
          <p:spPr>
            <a:xfrm>
              <a:off x="3306850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0"/>
            <p:cNvSpPr/>
            <p:nvPr/>
          </p:nvSpPr>
          <p:spPr>
            <a:xfrm>
              <a:off x="33076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0"/>
            <p:cNvSpPr/>
            <p:nvPr/>
          </p:nvSpPr>
          <p:spPr>
            <a:xfrm>
              <a:off x="33084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3308425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330922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3309225" y="23646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0"/>
            <p:cNvSpPr/>
            <p:nvPr/>
          </p:nvSpPr>
          <p:spPr>
            <a:xfrm>
              <a:off x="33100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0"/>
            <p:cNvSpPr/>
            <p:nvPr/>
          </p:nvSpPr>
          <p:spPr>
            <a:xfrm>
              <a:off x="33100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0"/>
            <p:cNvSpPr/>
            <p:nvPr/>
          </p:nvSpPr>
          <p:spPr>
            <a:xfrm>
              <a:off x="33108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0"/>
            <p:cNvSpPr/>
            <p:nvPr/>
          </p:nvSpPr>
          <p:spPr>
            <a:xfrm>
              <a:off x="3310800" y="23646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0"/>
            <p:cNvSpPr/>
            <p:nvPr/>
          </p:nvSpPr>
          <p:spPr>
            <a:xfrm>
              <a:off x="3311600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0"/>
            <p:cNvSpPr/>
            <p:nvPr/>
          </p:nvSpPr>
          <p:spPr>
            <a:xfrm>
              <a:off x="3312375" y="23646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0"/>
            <p:cNvSpPr/>
            <p:nvPr/>
          </p:nvSpPr>
          <p:spPr>
            <a:xfrm>
              <a:off x="3276750" y="2303675"/>
              <a:ext cx="25" cy="8725"/>
            </a:xfrm>
            <a:custGeom>
              <a:rect b="b" l="l" r="r" t="t"/>
              <a:pathLst>
                <a:path extrusionOk="0" fill="none" h="349" w="1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0"/>
            <p:cNvSpPr/>
            <p:nvPr/>
          </p:nvSpPr>
          <p:spPr>
            <a:xfrm>
              <a:off x="32767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0"/>
            <p:cNvSpPr/>
            <p:nvPr/>
          </p:nvSpPr>
          <p:spPr>
            <a:xfrm>
              <a:off x="32775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327755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32783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327835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0"/>
            <p:cNvSpPr/>
            <p:nvPr/>
          </p:nvSpPr>
          <p:spPr>
            <a:xfrm>
              <a:off x="32791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0"/>
            <p:cNvSpPr/>
            <p:nvPr/>
          </p:nvSpPr>
          <p:spPr>
            <a:xfrm>
              <a:off x="32791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32799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3279925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328072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328072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32815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3281500" y="2302875"/>
              <a:ext cx="825" cy="9525"/>
            </a:xfrm>
            <a:custGeom>
              <a:rect b="b" l="l" r="r" t="t"/>
              <a:pathLst>
                <a:path extrusionOk="0" fill="none" h="381" w="33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32823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328310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3283100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32838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32846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3285475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3285475" y="2302875"/>
              <a:ext cx="800" cy="9525"/>
            </a:xfrm>
            <a:custGeom>
              <a:rect b="b" l="l" r="r" t="t"/>
              <a:pathLst>
                <a:path extrusionOk="0" fill="none" h="381" w="32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3286250" y="2302875"/>
              <a:ext cx="25" cy="9525"/>
            </a:xfrm>
            <a:custGeom>
              <a:rect b="b" l="l" r="r" t="t"/>
              <a:pathLst>
                <a:path extrusionOk="0" fill="none" h="381" w="1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330210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33028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33028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33036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330367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33044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33052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33052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33060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330605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0"/>
            <p:cNvSpPr/>
            <p:nvPr/>
          </p:nvSpPr>
          <p:spPr>
            <a:xfrm>
              <a:off x="330685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0"/>
            <p:cNvSpPr/>
            <p:nvPr/>
          </p:nvSpPr>
          <p:spPr>
            <a:xfrm>
              <a:off x="3306850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33076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3084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3308425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30922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3309225" y="2240325"/>
              <a:ext cx="800" cy="10325"/>
            </a:xfrm>
            <a:custGeom>
              <a:rect b="b" l="l" r="r" t="t"/>
              <a:pathLst>
                <a:path extrusionOk="0" fill="none" h="413" w="32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33100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33100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33108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0"/>
            <p:cNvSpPr/>
            <p:nvPr/>
          </p:nvSpPr>
          <p:spPr>
            <a:xfrm>
              <a:off x="3310800" y="2240325"/>
              <a:ext cx="825" cy="10325"/>
            </a:xfrm>
            <a:custGeom>
              <a:rect b="b" l="l" r="r" t="t"/>
              <a:pathLst>
                <a:path extrusionOk="0" fill="none" h="413" w="33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0"/>
            <p:cNvSpPr/>
            <p:nvPr/>
          </p:nvSpPr>
          <p:spPr>
            <a:xfrm>
              <a:off x="3311600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3312375" y="2240325"/>
              <a:ext cx="25" cy="10325"/>
            </a:xfrm>
            <a:custGeom>
              <a:rect b="b" l="l" r="r" t="t"/>
              <a:pathLst>
                <a:path extrusionOk="0" fill="none" h="413" w="1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3743875" y="1532525"/>
              <a:ext cx="3261950" cy="581150"/>
            </a:xfrm>
            <a:custGeom>
              <a:rect b="b" l="l" r="r" t="t"/>
              <a:pathLst>
                <a:path extrusionOk="0" h="23246" w="130478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0"/>
            <p:cNvSpPr/>
            <p:nvPr/>
          </p:nvSpPr>
          <p:spPr>
            <a:xfrm>
              <a:off x="4059775" y="1652875"/>
              <a:ext cx="340475" cy="340450"/>
            </a:xfrm>
            <a:custGeom>
              <a:rect b="b" l="l" r="r" t="t"/>
              <a:pathLst>
                <a:path extrusionOk="0" h="13618" w="13619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0"/>
            <p:cNvSpPr/>
            <p:nvPr/>
          </p:nvSpPr>
          <p:spPr>
            <a:xfrm>
              <a:off x="3771600" y="17930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0"/>
            <p:cNvSpPr/>
            <p:nvPr/>
          </p:nvSpPr>
          <p:spPr>
            <a:xfrm>
              <a:off x="4631400" y="1564200"/>
              <a:ext cx="2341950" cy="517800"/>
            </a:xfrm>
            <a:custGeom>
              <a:rect b="b" l="l" r="r" t="t"/>
              <a:pathLst>
                <a:path extrusionOk="0" h="20712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0"/>
            <p:cNvSpPr/>
            <p:nvPr/>
          </p:nvSpPr>
          <p:spPr>
            <a:xfrm>
              <a:off x="4136575" y="1720175"/>
              <a:ext cx="186075" cy="205875"/>
            </a:xfrm>
            <a:custGeom>
              <a:rect b="b" l="l" r="r" t="t"/>
              <a:pathLst>
                <a:path extrusionOk="0" h="8235" w="7443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0"/>
            <p:cNvSpPr/>
            <p:nvPr/>
          </p:nvSpPr>
          <p:spPr>
            <a:xfrm>
              <a:off x="4199125" y="1760425"/>
              <a:ext cx="60975" cy="111775"/>
            </a:xfrm>
            <a:custGeom>
              <a:rect b="b" l="l" r="r" t="t"/>
              <a:pathLst>
                <a:path extrusionOk="0" h="4471" w="2439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595975" y="2986125"/>
              <a:ext cx="3262725" cy="581950"/>
            </a:xfrm>
            <a:custGeom>
              <a:rect b="b" l="l" r="r" t="t"/>
              <a:pathLst>
                <a:path extrusionOk="0" h="23278" w="130509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0"/>
            <p:cNvSpPr/>
            <p:nvPr/>
          </p:nvSpPr>
          <p:spPr>
            <a:xfrm>
              <a:off x="3201550" y="3106475"/>
              <a:ext cx="340475" cy="341250"/>
            </a:xfrm>
            <a:custGeom>
              <a:rect b="b" l="l" r="r" t="t"/>
              <a:pathLst>
                <a:path extrusionOk="0" h="13650" w="13619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0"/>
            <p:cNvSpPr/>
            <p:nvPr/>
          </p:nvSpPr>
          <p:spPr>
            <a:xfrm>
              <a:off x="3769225" y="3246600"/>
              <a:ext cx="60975" cy="61000"/>
            </a:xfrm>
            <a:custGeom>
              <a:rect b="b" l="l" r="r" t="t"/>
              <a:pathLst>
                <a:path extrusionOk="0" h="2440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0"/>
            <p:cNvSpPr/>
            <p:nvPr/>
          </p:nvSpPr>
          <p:spPr>
            <a:xfrm>
              <a:off x="627650" y="3018600"/>
              <a:ext cx="2342725" cy="517000"/>
            </a:xfrm>
            <a:custGeom>
              <a:rect b="b" l="l" r="r" t="t"/>
              <a:pathLst>
                <a:path extrusionOk="0" h="20680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0"/>
            <p:cNvSpPr/>
            <p:nvPr/>
          </p:nvSpPr>
          <p:spPr>
            <a:xfrm>
              <a:off x="3298925" y="3161100"/>
              <a:ext cx="146500" cy="232800"/>
            </a:xfrm>
            <a:custGeom>
              <a:rect b="b" l="l" r="r" t="t"/>
              <a:pathLst>
                <a:path extrusionOk="0" h="9312" w="586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3346425" y="3280650"/>
              <a:ext cx="51500" cy="78400"/>
            </a:xfrm>
            <a:custGeom>
              <a:rect b="b" l="l" r="r" t="t"/>
              <a:pathLst>
                <a:path extrusionOk="0" h="3136" w="206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cap="flat" cmpd="sng" w="2375">
              <a:solidFill>
                <a:srgbClr val="F2A365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3743875" y="3470675"/>
              <a:ext cx="3261950" cy="581925"/>
            </a:xfrm>
            <a:custGeom>
              <a:rect b="b" l="l" r="r" t="t"/>
              <a:pathLst>
                <a:path extrusionOk="0" h="23277" w="130478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4059775" y="3591000"/>
              <a:ext cx="340475" cy="341275"/>
            </a:xfrm>
            <a:custGeom>
              <a:rect b="b" l="l" r="r" t="t"/>
              <a:pathLst>
                <a:path extrusionOk="0" h="13651" w="13619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3771600" y="3731150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4631400" y="3503125"/>
              <a:ext cx="2341950" cy="517025"/>
            </a:xfrm>
            <a:custGeom>
              <a:rect b="b" l="l" r="r" t="t"/>
              <a:pathLst>
                <a:path extrusionOk="0" h="20681" w="93678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4269575" y="3690700"/>
              <a:ext cx="30125" cy="105375"/>
            </a:xfrm>
            <a:custGeom>
              <a:rect b="b" l="l" r="r" t="t"/>
              <a:pathLst>
                <a:path extrusionOk="0" h="4215" w="1205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4287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4160325" y="3690700"/>
              <a:ext cx="29325" cy="105375"/>
            </a:xfrm>
            <a:custGeom>
              <a:rect b="b" l="l" r="r" t="t"/>
              <a:pathLst>
                <a:path extrusionOk="0" h="4215" w="1173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4135000" y="3672150"/>
              <a:ext cx="38025" cy="142150"/>
            </a:xfrm>
            <a:custGeom>
              <a:rect b="b" l="l" r="r" t="t"/>
              <a:pathLst>
                <a:path extrusionOk="0" h="5686" w="1521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h="6525" w="3168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4269575" y="3689975"/>
              <a:ext cx="30125" cy="106100"/>
            </a:xfrm>
            <a:custGeom>
              <a:rect b="b" l="l" r="r" t="t"/>
              <a:pathLst>
                <a:path extrusionOk="0" fill="none" h="4244" w="1205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4287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4160325" y="3689975"/>
              <a:ext cx="29325" cy="106100"/>
            </a:xfrm>
            <a:custGeom>
              <a:rect b="b" l="l" r="r" t="t"/>
              <a:pathLst>
                <a:path extrusionOk="0" fill="none" h="4244" w="1173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4135000" y="3671750"/>
              <a:ext cx="38025" cy="142550"/>
            </a:xfrm>
            <a:custGeom>
              <a:rect b="b" l="l" r="r" t="t"/>
              <a:pathLst>
                <a:path extrusionOk="0" fill="none" h="5702" w="1521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4190400" y="3704225"/>
              <a:ext cx="79200" cy="163125"/>
            </a:xfrm>
            <a:custGeom>
              <a:rect b="b" l="l" r="r" t="t"/>
              <a:pathLst>
                <a:path extrusionOk="0" fill="none" h="6525" w="3168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30475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595975" y="3956000"/>
              <a:ext cx="3262725" cy="581150"/>
            </a:xfrm>
            <a:custGeom>
              <a:rect b="b" l="l" r="r" t="t"/>
              <a:pathLst>
                <a:path extrusionOk="0" h="23246" w="130509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3201550" y="4076325"/>
              <a:ext cx="340475" cy="340475"/>
            </a:xfrm>
            <a:custGeom>
              <a:rect b="b" l="l" r="r" t="t"/>
              <a:pathLst>
                <a:path extrusionOk="0" h="13619" w="13619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3769225" y="4215675"/>
              <a:ext cx="60975" cy="60975"/>
            </a:xfrm>
            <a:custGeom>
              <a:rect b="b" l="l" r="r" t="t"/>
              <a:pathLst>
                <a:path extrusionOk="0" h="2439" w="2439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3332975" y="4198250"/>
              <a:ext cx="77600" cy="77625"/>
            </a:xfrm>
            <a:custGeom>
              <a:rect b="b" l="l" r="r" t="t"/>
              <a:pathLst>
                <a:path extrusionOk="0" h="3105" w="3104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4113625" y="2679450"/>
              <a:ext cx="232775" cy="225950"/>
            </a:xfrm>
            <a:custGeom>
              <a:rect b="b" l="l" r="r" t="t"/>
              <a:pathLst>
                <a:path extrusionOk="0" h="9038" w="9311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4113625" y="2675775"/>
              <a:ext cx="232775" cy="229625"/>
            </a:xfrm>
            <a:custGeom>
              <a:rect b="b" l="l" r="r" t="t"/>
              <a:pathLst>
                <a:path extrusionOk="0" fill="none" h="9185" w="9311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627650" y="3987650"/>
              <a:ext cx="2342725" cy="517825"/>
            </a:xfrm>
            <a:custGeom>
              <a:rect b="b" l="l" r="r" t="t"/>
              <a:pathLst>
                <a:path extrusionOk="0" h="20713" w="93709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3259350" y="4134125"/>
              <a:ext cx="225650" cy="224875"/>
            </a:xfrm>
            <a:custGeom>
              <a:rect b="b" l="l" r="r" t="t"/>
              <a:pathLst>
                <a:path extrusionOk="0" h="8995" w="9026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627650" y="2049525"/>
              <a:ext cx="2342725" cy="517025"/>
            </a:xfrm>
            <a:custGeom>
              <a:rect b="b" l="l" r="r" t="t"/>
              <a:pathLst>
                <a:path extrusionOk="0" h="20681" w="93709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7" name="Google Shape;1417;p30"/>
          <p:cNvSpPr txBox="1"/>
          <p:nvPr/>
        </p:nvSpPr>
        <p:spPr>
          <a:xfrm>
            <a:off x="232775" y="1638300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 КИПиА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8" name="Google Shape;1418;p30"/>
          <p:cNvSpPr txBox="1"/>
          <p:nvPr/>
        </p:nvSpPr>
        <p:spPr>
          <a:xfrm>
            <a:off x="-18325" y="2756675"/>
            <a:ext cx="39414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Специалист по безопасности транспортной сети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9" name="Google Shape;1419;p30"/>
          <p:cNvSpPr txBox="1"/>
          <p:nvPr/>
        </p:nvSpPr>
        <p:spPr>
          <a:xfrm>
            <a:off x="5208400" y="991696"/>
            <a:ext cx="36900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Диспетчер энергосистемы (энергодиспетчер)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0" name="Google Shape;1420;p30"/>
          <p:cNvSpPr txBox="1"/>
          <p:nvPr/>
        </p:nvSpPr>
        <p:spPr>
          <a:xfrm>
            <a:off x="456550" y="4080425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"/>
                <a:ea typeface="Montserrat"/>
                <a:cs typeface="Montserrat"/>
                <a:sym typeface="Montserrat"/>
              </a:rPr>
              <a:t>Инженер по организации перевозок и управлению на транспорте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30"/>
          <p:cNvSpPr txBox="1"/>
          <p:nvPr/>
        </p:nvSpPr>
        <p:spPr>
          <a:xfrm>
            <a:off x="5647300" y="2189400"/>
            <a:ext cx="3043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 по релейной защите и автоматике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30"/>
          <p:cNvSpPr txBox="1"/>
          <p:nvPr/>
        </p:nvSpPr>
        <p:spPr>
          <a:xfrm>
            <a:off x="5146451" y="3537363"/>
            <a:ext cx="38139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Инженер по автоматизации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31" title="546539970055647916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4618" y="2637663"/>
            <a:ext cx="1879370" cy="250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75" y="228950"/>
            <a:ext cx="5456701" cy="13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550" y="1586950"/>
            <a:ext cx="5001200" cy="16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325" y="3256825"/>
            <a:ext cx="4541595" cy="17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7575" y="2763674"/>
            <a:ext cx="1784874" cy="23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6" name="Google Shape;14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75" y="226362"/>
            <a:ext cx="4313780" cy="1073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7" name="Google Shape;143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740" y="1299927"/>
            <a:ext cx="3953684" cy="1320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91" y="2620044"/>
            <a:ext cx="3590346" cy="1370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6781" y="190675"/>
            <a:ext cx="930267" cy="114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6773" y="1299931"/>
            <a:ext cx="930262" cy="114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1" name="Google Shape;1441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6783" y="2589697"/>
            <a:ext cx="930262" cy="114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32"/>
          <p:cNvSpPr txBox="1"/>
          <p:nvPr/>
        </p:nvSpPr>
        <p:spPr>
          <a:xfrm>
            <a:off x="5760925" y="583375"/>
            <a:ext cx="289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Производство</a:t>
            </a:r>
            <a:endParaRPr sz="21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43" name="Google Shape;1443;p32"/>
          <p:cNvSpPr txBox="1"/>
          <p:nvPr/>
        </p:nvSpPr>
        <p:spPr>
          <a:xfrm>
            <a:off x="5843375" y="1673525"/>
            <a:ext cx="310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0A0A0A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Электротехник</a:t>
            </a:r>
            <a:endParaRPr sz="2100">
              <a:solidFill>
                <a:srgbClr val="0A0A0A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44" name="Google Shape;1444;p32"/>
          <p:cNvSpPr txBox="1"/>
          <p:nvPr/>
        </p:nvSpPr>
        <p:spPr>
          <a:xfrm>
            <a:off x="5760925" y="2984738"/>
            <a:ext cx="339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Автоматизация</a:t>
            </a:r>
            <a:endParaRPr sz="21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33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3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33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3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3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3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33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3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33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3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33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Востребованность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0" name="Google Shape;1460;p33"/>
          <p:cNvSpPr/>
          <p:nvPr/>
        </p:nvSpPr>
        <p:spPr>
          <a:xfrm>
            <a:off x="5067250" y="4080075"/>
            <a:ext cx="2813510" cy="1006483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33"/>
          <p:cNvSpPr/>
          <p:nvPr/>
        </p:nvSpPr>
        <p:spPr>
          <a:xfrm>
            <a:off x="5091351" y="4097713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62" name="Google Shape;1462;p33"/>
          <p:cNvSpPr/>
          <p:nvPr/>
        </p:nvSpPr>
        <p:spPr>
          <a:xfrm>
            <a:off x="5115450" y="146075"/>
            <a:ext cx="2260484" cy="863727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33"/>
          <p:cNvSpPr/>
          <p:nvPr/>
        </p:nvSpPr>
        <p:spPr>
          <a:xfrm>
            <a:off x="5091363" y="146075"/>
            <a:ext cx="430735" cy="863727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64" name="Google Shape;1464;p33"/>
          <p:cNvSpPr/>
          <p:nvPr/>
        </p:nvSpPr>
        <p:spPr>
          <a:xfrm>
            <a:off x="5156626" y="2089100"/>
            <a:ext cx="1871110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3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66" name="Google Shape;1466;p33"/>
          <p:cNvSpPr/>
          <p:nvPr/>
        </p:nvSpPr>
        <p:spPr>
          <a:xfrm>
            <a:off x="6844151" y="1107750"/>
            <a:ext cx="2260444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3"/>
          <p:cNvSpPr/>
          <p:nvPr/>
        </p:nvSpPr>
        <p:spPr>
          <a:xfrm>
            <a:off x="6829780" y="1063849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68" name="Google Shape;1468;p33"/>
          <p:cNvSpPr/>
          <p:nvPr/>
        </p:nvSpPr>
        <p:spPr>
          <a:xfrm>
            <a:off x="6917150" y="2997775"/>
            <a:ext cx="2154361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33"/>
          <p:cNvSpPr/>
          <p:nvPr/>
        </p:nvSpPr>
        <p:spPr>
          <a:xfrm>
            <a:off x="6922230" y="2997766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70" name="Google Shape;1470;p33"/>
          <p:cNvSpPr txBox="1"/>
          <p:nvPr/>
        </p:nvSpPr>
        <p:spPr>
          <a:xfrm>
            <a:off x="5546200" y="217175"/>
            <a:ext cx="2154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Рост инфраструктуры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1" name="Google Shape;1471;p33"/>
          <p:cNvSpPr txBox="1"/>
          <p:nvPr/>
        </p:nvSpPr>
        <p:spPr>
          <a:xfrm>
            <a:off x="6740376" y="1161500"/>
            <a:ext cx="2588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Технологический прогресс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2" name="Google Shape;1472;p33"/>
          <p:cNvSpPr txBox="1"/>
          <p:nvPr/>
        </p:nvSpPr>
        <p:spPr>
          <a:xfrm>
            <a:off x="6829777" y="2980105"/>
            <a:ext cx="3075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Технологическое развитие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3" name="Google Shape;1473;p33"/>
          <p:cNvSpPr txBox="1"/>
          <p:nvPr/>
        </p:nvSpPr>
        <p:spPr>
          <a:xfrm>
            <a:off x="5067243" y="4138580"/>
            <a:ext cx="2925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Энергоэффективность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4" name="Google Shape;1474;p33"/>
          <p:cNvSpPr txBox="1"/>
          <p:nvPr/>
        </p:nvSpPr>
        <p:spPr>
          <a:xfrm>
            <a:off x="5154525" y="2020688"/>
            <a:ext cx="20859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Безопасность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34"/>
          <p:cNvSpPr txBox="1"/>
          <p:nvPr/>
        </p:nvSpPr>
        <p:spPr>
          <a:xfrm>
            <a:off x="710250" y="227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80" name="Google Shape;1480;p34"/>
          <p:cNvSpPr txBox="1"/>
          <p:nvPr/>
        </p:nvSpPr>
        <p:spPr>
          <a:xfrm>
            <a:off x="1077300" y="1040050"/>
            <a:ext cx="2214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66666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Промышленные предприятия</a:t>
            </a:r>
            <a:endParaRPr b="1" sz="16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1" name="Google Shape;1481;p34"/>
          <p:cNvSpPr txBox="1"/>
          <p:nvPr/>
        </p:nvSpPr>
        <p:spPr>
          <a:xfrm>
            <a:off x="340200" y="2687995"/>
            <a:ext cx="22140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7376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Энергетика</a:t>
            </a:r>
            <a:endParaRPr b="1" sz="1600">
              <a:solidFill>
                <a:srgbClr val="07376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2" name="Google Shape;1482;p34"/>
          <p:cNvSpPr txBox="1"/>
          <p:nvPr/>
        </p:nvSpPr>
        <p:spPr>
          <a:xfrm>
            <a:off x="917893" y="4096850"/>
            <a:ext cx="273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B45F0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Транспорт</a:t>
            </a:r>
            <a:endParaRPr b="1" sz="16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3" name="Google Shape;1483;p34"/>
          <p:cNvSpPr txBox="1"/>
          <p:nvPr/>
        </p:nvSpPr>
        <p:spPr>
          <a:xfrm>
            <a:off x="5438400" y="948250"/>
            <a:ext cx="2920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7376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Строительство</a:t>
            </a:r>
            <a:endParaRPr b="1" sz="1600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4" name="Google Shape;1484;p34"/>
          <p:cNvSpPr txBox="1"/>
          <p:nvPr/>
        </p:nvSpPr>
        <p:spPr>
          <a:xfrm>
            <a:off x="6333875" y="2488425"/>
            <a:ext cx="3099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Электротехническая промышленность</a:t>
            </a:r>
            <a:endParaRPr b="1"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5" name="Google Shape;1485;p34"/>
          <p:cNvSpPr txBox="1"/>
          <p:nvPr/>
        </p:nvSpPr>
        <p:spPr>
          <a:xfrm>
            <a:off x="5684375" y="4028600"/>
            <a:ext cx="32247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Системы автоматизации и управления</a:t>
            </a:r>
            <a:endParaRPr b="1" sz="1600">
              <a:solidFill>
                <a:srgbClr val="2A3F5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6" name="Google Shape;1486;p34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4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7" name="Google Shape;1487;p34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88" name="Google Shape;1488;p34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3" name="Google Shape;1493;p34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ru" sz="2700" u="none" cap="none" strike="noStrike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b="0" i="0" sz="2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0" name="Google Shape;1500;p35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501" name="Google Shape;1501;p35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5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5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5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5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5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5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5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5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5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5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5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5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5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5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5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5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5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5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5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5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5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5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5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5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5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5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5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5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5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5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5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5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5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5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5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5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5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5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5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5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5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5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5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5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5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5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5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5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7" name="Google Shape;1567;p35"/>
          <p:cNvSpPr txBox="1"/>
          <p:nvPr/>
        </p:nvSpPr>
        <p:spPr>
          <a:xfrm>
            <a:off x="749000" y="221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Образование 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568" name="Google Shape;1568;p35"/>
          <p:cNvSpPr txBox="1"/>
          <p:nvPr/>
        </p:nvSpPr>
        <p:spPr>
          <a:xfrm>
            <a:off x="138300" y="1223350"/>
            <a:ext cx="2208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 (УГГУ)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69" name="Google Shape;1569;p35"/>
          <p:cNvSpPr txBox="1"/>
          <p:nvPr/>
        </p:nvSpPr>
        <p:spPr>
          <a:xfrm>
            <a:off x="103975" y="2572975"/>
            <a:ext cx="2208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 (УрФУ)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0" name="Google Shape;1570;p35"/>
          <p:cNvSpPr txBox="1"/>
          <p:nvPr/>
        </p:nvSpPr>
        <p:spPr>
          <a:xfrm>
            <a:off x="0" y="3589300"/>
            <a:ext cx="24351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колледж имени И.И. Ползунова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1" name="Google Shape;1571;p35"/>
          <p:cNvSpPr txBox="1"/>
          <p:nvPr/>
        </p:nvSpPr>
        <p:spPr>
          <a:xfrm>
            <a:off x="6318100" y="856825"/>
            <a:ext cx="2755200" cy="17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Сибирский государственный университет путей сообщения (СГУПС)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2" name="Google Shape;1572;p35"/>
          <p:cNvSpPr txBox="1"/>
          <p:nvPr/>
        </p:nvSpPr>
        <p:spPr>
          <a:xfrm>
            <a:off x="6777275" y="2386788"/>
            <a:ext cx="22080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радиотехнический колледж имени А.С. Попова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