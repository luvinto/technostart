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Dela Gothic One"/>
      <p:regular r:id="rId30"/>
    </p:embeddedFont>
    <p:embeddedFont>
      <p:font typeface="Fira Sans Medium"/>
      <p:regular r:id="rId31"/>
      <p:bold r:id="rId32"/>
      <p:italic r:id="rId33"/>
      <p:boldItalic r:id="rId34"/>
    </p:embeddedFont>
    <p:embeddedFont>
      <p:font typeface="Fira Sans SemiBold"/>
      <p:regular r:id="rId35"/>
      <p:bold r:id="rId36"/>
      <p:italic r:id="rId37"/>
      <p:boldItalic r:id="rId38"/>
    </p:embeddedFont>
    <p:embeddedFont>
      <p:font typeface="Fira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  <p:ext uri="GoogleSlidesCustomDataVersion2">
      <go:slidesCustomData xmlns:go="http://customooxmlschemas.google.com/" r:id="rId43" roundtripDataSignature="AMtx7mgkBIWR4xtK6EEsDecNDwRq9exS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-bold.fntdata"/><Relationship Id="rId20" Type="http://schemas.openxmlformats.org/officeDocument/2006/relationships/font" Target="fonts/Roboto-italic.fntdata"/><Relationship Id="rId42" Type="http://schemas.openxmlformats.org/officeDocument/2006/relationships/font" Target="fonts/FiraSans-boldItalic.fntdata"/><Relationship Id="rId41" Type="http://schemas.openxmlformats.org/officeDocument/2006/relationships/font" Target="fonts/FiraSans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43" Type="http://customschemas.google.com/relationships/presentationmetadata" Target="meta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Medium-regular.fntdata"/><Relationship Id="rId30" Type="http://schemas.openxmlformats.org/officeDocument/2006/relationships/font" Target="fonts/DelaGothicOne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FiraSansMedium-bold.fntdata"/><Relationship Id="rId13" Type="http://schemas.openxmlformats.org/officeDocument/2006/relationships/slide" Target="slides/slide8.xml"/><Relationship Id="rId35" Type="http://schemas.openxmlformats.org/officeDocument/2006/relationships/font" Target="fonts/FiraSa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Fira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FiraSa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FiraSansSemiBold-bold.fntdata"/><Relationship Id="rId17" Type="http://schemas.openxmlformats.org/officeDocument/2006/relationships/slide" Target="slides/slide12.xml"/><Relationship Id="rId39" Type="http://schemas.openxmlformats.org/officeDocument/2006/relationships/font" Target="fonts/FiraSans-regular.fntdata"/><Relationship Id="rId16" Type="http://schemas.openxmlformats.org/officeDocument/2006/relationships/slide" Target="slides/slide11.xml"/><Relationship Id="rId38" Type="http://schemas.openxmlformats.org/officeDocument/2006/relationships/font" Target="fonts/FiraSansSemiBold-bold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2" name="Google Shape;14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7" name="Google Shape;14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5" name="Google Shape;15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4735281" y="1905920"/>
            <a:ext cx="4207415" cy="2966160"/>
            <a:chOff x="2523825" y="1354400"/>
            <a:chExt cx="4476450" cy="3155825"/>
          </a:xfrm>
        </p:grpSpPr>
        <p:sp>
          <p:nvSpPr>
            <p:cNvPr id="55" name="Google Shape;55;p1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"/>
          <p:cNvSpPr txBox="1"/>
          <p:nvPr/>
        </p:nvSpPr>
        <p:spPr>
          <a:xfrm>
            <a:off x="351300" y="1489000"/>
            <a:ext cx="92583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Инженер-конструктор</a:t>
            </a:r>
            <a:endParaRPr b="0" i="0" sz="36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457200" y="3122600"/>
            <a:ext cx="3295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>
            <p:ph type="title"/>
          </p:nvPr>
        </p:nvSpPr>
        <p:spPr>
          <a:xfrm>
            <a:off x="118250" y="33625"/>
            <a:ext cx="5576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Инженер-конструктор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1" name="Google Shape;171;p2"/>
          <p:cNvSpPr txBox="1"/>
          <p:nvPr>
            <p:ph idx="1" type="body"/>
          </p:nvPr>
        </p:nvSpPr>
        <p:spPr>
          <a:xfrm>
            <a:off x="32771" y="789325"/>
            <a:ext cx="4496373" cy="34465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1600"/>
              </a:spcAft>
              <a:buSzPts val="1200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Инженер-конструктор – квалифицированный специалист, который занимается проектированием, разработкой и техническим сопровождением новых систем, устройств, машин, механизмов и других технических объектов. Он создаёт новое, модернизирует и рассчитывает технологии будущего. Инженеры-конструкторы причастны ко всему, что нас окружает, начиная с бытовых предметов, заканчивая летательными аппаратами и промышленной техникой. Все процессы осуществляются благодаря качественным техническим знаниям, умениям работать с расчётными программами, аналитическому складу ума.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124" y="1428325"/>
            <a:ext cx="4693876" cy="29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type="title"/>
          </p:nvPr>
        </p:nvSpPr>
        <p:spPr>
          <a:xfrm>
            <a:off x="118250" y="33625"/>
            <a:ext cx="5576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0" y="789325"/>
            <a:ext cx="4927500" cy="3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История профессии инженера-конструктора уходит в древность. Именно конструкторы проектировали и просчитывали такие сооружения, как гробницы фараонов. В те времена и зародилось название «инженер», что в переводе с латыни означало «способный изобретать». </a:t>
            </a:r>
            <a:endParaRPr sz="1400">
              <a:solidFill>
                <a:schemeClr val="hlink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Впервые профессия конструктора появилась в период активного ведения военных действий — в XIII–XV веках. Специалисты создавали исключительно военную технику и новшества. Отделение в более мирное русло конструирования появилось лишь в XVI веке, когда начали строить надёжные переправы через реки. Так появилось гражданское направление инженерии.</a:t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2500" y="1305150"/>
            <a:ext cx="4159200" cy="294630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/>
          <p:nvPr/>
        </p:nvSpPr>
        <p:spPr>
          <a:xfrm>
            <a:off x="1087300" y="2612813"/>
            <a:ext cx="1969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Проектирование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4"/>
          <p:cNvSpPr txBox="1"/>
          <p:nvPr/>
        </p:nvSpPr>
        <p:spPr>
          <a:xfrm flipH="1">
            <a:off x="1135675" y="3556163"/>
            <a:ext cx="21507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технической документации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710225" y="3723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6371500" y="1869213"/>
            <a:ext cx="1636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371500" y="2483212"/>
            <a:ext cx="16368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и улучшение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6419875" y="3556175"/>
            <a:ext cx="20562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стандартов и нормативов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0" name="Google Shape;190;p4"/>
          <p:cNvGrpSpPr/>
          <p:nvPr/>
        </p:nvGrpSpPr>
        <p:grpSpPr>
          <a:xfrm>
            <a:off x="8056664" y="1361318"/>
            <a:ext cx="630131" cy="630131"/>
            <a:chOff x="6323089" y="1361318"/>
            <a:chExt cx="630131" cy="630131"/>
          </a:xfrm>
        </p:grpSpPr>
        <p:sp>
          <p:nvSpPr>
            <p:cNvPr id="191" name="Google Shape;191;p4"/>
            <p:cNvSpPr/>
            <p:nvPr/>
          </p:nvSpPr>
          <p:spPr>
            <a:xfrm>
              <a:off x="6332385" y="1406385"/>
              <a:ext cx="612392" cy="539652"/>
            </a:xfrm>
            <a:custGeom>
              <a:rect b="b" l="l" r="r" t="t"/>
              <a:pathLst>
                <a:path extrusionOk="0" h="20261" w="22992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6474935" y="1526642"/>
              <a:ext cx="326465" cy="299484"/>
            </a:xfrm>
            <a:custGeom>
              <a:rect b="b" l="l" r="r" t="t"/>
              <a:pathLst>
                <a:path extrusionOk="0" h="11244" w="12257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6533133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6323089" y="1446524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8056664" y="3637093"/>
            <a:ext cx="630131" cy="630130"/>
            <a:chOff x="6323089" y="3637093"/>
            <a:chExt cx="630131" cy="630130"/>
          </a:xfrm>
        </p:grpSpPr>
        <p:sp>
          <p:nvSpPr>
            <p:cNvPr id="196" name="Google Shape;196;p4"/>
            <p:cNvSpPr/>
            <p:nvPr/>
          </p:nvSpPr>
          <p:spPr>
            <a:xfrm>
              <a:off x="6368635" y="3682639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6504447" y="3817598"/>
              <a:ext cx="124013" cy="124865"/>
            </a:xfrm>
            <a:custGeom>
              <a:rect b="b" l="l" r="r" t="t"/>
              <a:pathLst>
                <a:path extrusionOk="0" h="4688" w="4656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6647850" y="3817598"/>
              <a:ext cx="124865" cy="124865"/>
            </a:xfrm>
            <a:custGeom>
              <a:rect b="b" l="l" r="r" t="t"/>
              <a:pathLst>
                <a:path extrusionOk="0" h="4688" w="4688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6504447" y="3961827"/>
              <a:ext cx="124013" cy="124039"/>
            </a:xfrm>
            <a:custGeom>
              <a:rect b="b" l="l" r="r" t="t"/>
              <a:pathLst>
                <a:path extrusionOk="0" h="4657" w="4656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6647850" y="3961827"/>
              <a:ext cx="124865" cy="124039"/>
            </a:xfrm>
            <a:custGeom>
              <a:rect b="b" l="l" r="r" t="t"/>
              <a:pathLst>
                <a:path extrusionOk="0" h="4657" w="4688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6533133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6323089" y="37222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4"/>
          <p:cNvGrpSpPr/>
          <p:nvPr/>
        </p:nvGrpSpPr>
        <p:grpSpPr>
          <a:xfrm>
            <a:off x="8056664" y="2499219"/>
            <a:ext cx="630131" cy="630104"/>
            <a:chOff x="6323089" y="2499219"/>
            <a:chExt cx="630131" cy="630104"/>
          </a:xfrm>
        </p:grpSpPr>
        <p:sp>
          <p:nvSpPr>
            <p:cNvPr id="204" name="Google Shape;204;p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10" name="Google Shape;210;p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4"/>
          <p:cNvGrpSpPr/>
          <p:nvPr/>
        </p:nvGrpSpPr>
        <p:grpSpPr>
          <a:xfrm>
            <a:off x="457201" y="3637093"/>
            <a:ext cx="630104" cy="630130"/>
            <a:chOff x="2190776" y="3637093"/>
            <a:chExt cx="630104" cy="630130"/>
          </a:xfrm>
        </p:grpSpPr>
        <p:sp>
          <p:nvSpPr>
            <p:cNvPr id="218" name="Google Shape;218;p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4"/>
          <p:cNvGrpSpPr/>
          <p:nvPr/>
        </p:nvGrpSpPr>
        <p:grpSpPr>
          <a:xfrm>
            <a:off x="457201" y="2499219"/>
            <a:ext cx="630104" cy="630104"/>
            <a:chOff x="2190776" y="2499219"/>
            <a:chExt cx="630104" cy="630104"/>
          </a:xfrm>
        </p:grpSpPr>
        <p:sp>
          <p:nvSpPr>
            <p:cNvPr id="223" name="Google Shape;223;p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9" name="Google Shape;229;p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4"/>
          <p:cNvSpPr txBox="1"/>
          <p:nvPr/>
        </p:nvSpPr>
        <p:spPr>
          <a:xfrm>
            <a:off x="6419800" y="1305505"/>
            <a:ext cx="15402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клиентами</a:t>
            </a:r>
            <a:endParaRPr b="0" i="0" sz="15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"/>
          <p:cNvSpPr txBox="1"/>
          <p:nvPr/>
        </p:nvSpPr>
        <p:spPr>
          <a:xfrm>
            <a:off x="1028175" y="1361450"/>
            <a:ext cx="1969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Исследование и анализ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 txBox="1"/>
          <p:nvPr/>
        </p:nvSpPr>
        <p:spPr>
          <a:xfrm>
            <a:off x="300225" y="1267625"/>
            <a:ext cx="3606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DD91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Техническое мышление</a:t>
            </a:r>
            <a:endParaRPr b="0" i="0" sz="1600" u="none" cap="none" strike="noStrike">
              <a:solidFill>
                <a:srgbClr val="DD915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63875" y="2238200"/>
            <a:ext cx="29472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A3F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Системное мышление</a:t>
            </a:r>
            <a:endParaRPr b="0" i="0" sz="1600" u="none" cap="none" strike="noStrike">
              <a:solidFill>
                <a:srgbClr val="2A3F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710250" y="3974800"/>
            <a:ext cx="2674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060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Любознательность</a:t>
            </a:r>
            <a:endParaRPr b="0" i="0" sz="1600" u="none" cap="none" strike="noStrike">
              <a:solidFill>
                <a:srgbClr val="60606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710250" y="390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5807400" y="1324450"/>
            <a:ext cx="3336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Стремление к        совершенствованию</a:t>
            </a:r>
            <a:endParaRPr b="0" i="0" sz="16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6327625" y="2306850"/>
            <a:ext cx="2674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060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Стрессоустойчивость</a:t>
            </a:r>
            <a:endParaRPr b="0" i="0" sz="1600" u="none" cap="none" strike="noStrike">
              <a:solidFill>
                <a:srgbClr val="60606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5961475" y="3925150"/>
            <a:ext cx="26745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63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Творческий подход</a:t>
            </a:r>
            <a:endParaRPr b="0" i="0" sz="1600" u="none" cap="none" strike="noStrike">
              <a:solidFill>
                <a:srgbClr val="263C4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38" name="Google Shape;338;p8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8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40" name="Google Shape;340;p8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5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363" name="Google Shape;363;p5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5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9" name="Google Shape;1389;p5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33333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Специализации</a:t>
            </a:r>
            <a:r>
              <a:rPr b="0" i="0" lang="en" sz="2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0" name="Google Shape;1390;p5"/>
          <p:cNvSpPr txBox="1"/>
          <p:nvPr/>
        </p:nvSpPr>
        <p:spPr>
          <a:xfrm>
            <a:off x="605773" y="1591200"/>
            <a:ext cx="3184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Машиностроение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1" name="Google Shape;1391;p5"/>
          <p:cNvSpPr txBox="1"/>
          <p:nvPr/>
        </p:nvSpPr>
        <p:spPr>
          <a:xfrm>
            <a:off x="605775" y="2844425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Биотехнологии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2" name="Google Shape;1392;p5"/>
          <p:cNvSpPr txBox="1"/>
          <p:nvPr/>
        </p:nvSpPr>
        <p:spPr>
          <a:xfrm>
            <a:off x="605775" y="3303021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3" name="Google Shape;1393;p5"/>
          <p:cNvSpPr txBox="1"/>
          <p:nvPr/>
        </p:nvSpPr>
        <p:spPr>
          <a:xfrm>
            <a:off x="605775" y="4107726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4" name="Google Shape;1394;p5"/>
          <p:cNvSpPr txBox="1"/>
          <p:nvPr/>
        </p:nvSpPr>
        <p:spPr>
          <a:xfrm>
            <a:off x="605775" y="3989225"/>
            <a:ext cx="27690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Промышленный дизайн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5" name="Google Shape;1395;p5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6" name="Google Shape;1396;p5"/>
          <p:cNvSpPr txBox="1"/>
          <p:nvPr/>
        </p:nvSpPr>
        <p:spPr>
          <a:xfrm>
            <a:off x="5776500" y="992153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Строительство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5"/>
          <p:cNvSpPr txBox="1"/>
          <p:nvPr/>
        </p:nvSpPr>
        <p:spPr>
          <a:xfrm>
            <a:off x="5744250" y="2155350"/>
            <a:ext cx="2833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Информационные технологии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8" name="Google Shape;1398;p5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9" name="Google Shape;1399;p5"/>
          <p:cNvSpPr txBox="1"/>
          <p:nvPr/>
        </p:nvSpPr>
        <p:spPr>
          <a:xfrm>
            <a:off x="5776500" y="3475203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Электроника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6" title="546539970055647916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4618" y="2637663"/>
            <a:ext cx="1879370" cy="250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268864"/>
            <a:ext cx="2472264" cy="118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8489" y="57375"/>
            <a:ext cx="2769230" cy="145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570" y="1616446"/>
            <a:ext cx="2068510" cy="118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5772" y="1640243"/>
            <a:ext cx="2574674" cy="1132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454" y="3241612"/>
            <a:ext cx="2722987" cy="8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1217" y="3024688"/>
            <a:ext cx="2769230" cy="10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042" y="287036"/>
            <a:ext cx="2235564" cy="106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9262" y="202050"/>
            <a:ext cx="2491589" cy="131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042" y="1614050"/>
            <a:ext cx="2001608" cy="1142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9508" y="1614063"/>
            <a:ext cx="2491391" cy="109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025" y="3125408"/>
            <a:ext cx="2491598" cy="78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46386" y="3276294"/>
            <a:ext cx="2001614" cy="774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7"/>
          <p:cNvSpPr txBox="1"/>
          <p:nvPr/>
        </p:nvSpPr>
        <p:spPr>
          <a:xfrm>
            <a:off x="2670344" y="442120"/>
            <a:ext cx="2481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25" lIns="75625" spcFirstLastPara="1" rIns="75625" wrap="square" tIns="756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r>
              <a:rPr b="0" i="0" lang="en" sz="1985" u="none" cap="none" strike="noStrike">
                <a:solidFill>
                  <a:schemeClr val="dk1"/>
                </a:solidFill>
                <a:highlight>
                  <a:srgbClr val="F8F9FA"/>
                </a:highlight>
                <a:latin typeface="Dela Gothic One"/>
                <a:ea typeface="Dela Gothic One"/>
                <a:cs typeface="Dela Gothic One"/>
                <a:sym typeface="Dela Gothic One"/>
              </a:rPr>
              <a:t>Резьбомер</a:t>
            </a:r>
            <a:endParaRPr b="0" i="0" sz="1985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22" name="Google Shape;1422;p7"/>
          <p:cNvSpPr txBox="1"/>
          <p:nvPr/>
        </p:nvSpPr>
        <p:spPr>
          <a:xfrm>
            <a:off x="2566831" y="1887319"/>
            <a:ext cx="2481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25" lIns="75625" spcFirstLastPara="1" rIns="75625" wrap="square" tIns="756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r>
              <a:rPr b="0" i="0" lang="en" sz="1985" u="none" cap="none" strike="noStrike">
                <a:solidFill>
                  <a:schemeClr val="dk1"/>
                </a:solidFill>
                <a:highlight>
                  <a:srgbClr val="F8F9FA"/>
                </a:highlight>
                <a:latin typeface="Dela Gothic One"/>
                <a:ea typeface="Dela Gothic One"/>
                <a:cs typeface="Dela Gothic One"/>
                <a:sym typeface="Dela Gothic One"/>
              </a:rPr>
              <a:t>Глубиномер</a:t>
            </a:r>
            <a:r>
              <a:rPr b="0" i="0" lang="en" sz="2315" u="none" cap="none" strike="noStrike">
                <a:solidFill>
                  <a:schemeClr val="dk1"/>
                </a:solidFill>
                <a:highlight>
                  <a:srgbClr val="F8F9FA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231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3" name="Google Shape;1423;p7"/>
          <p:cNvSpPr txBox="1"/>
          <p:nvPr/>
        </p:nvSpPr>
        <p:spPr>
          <a:xfrm>
            <a:off x="2670344" y="3379043"/>
            <a:ext cx="3315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25" lIns="75625" spcFirstLastPara="1" rIns="75625" wrap="square" tIns="756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Font typeface="Arial"/>
              <a:buNone/>
            </a:pPr>
            <a:r>
              <a:rPr b="0" i="0" lang="en" sz="1985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Штангенциркуль</a:t>
            </a:r>
            <a:endParaRPr b="0" i="0" sz="1985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id="1424" name="Google Shape;1424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27575" y="2763674"/>
            <a:ext cx="1784874" cy="237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9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9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9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9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9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9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9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9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9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9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9"/>
          <p:cNvSpPr/>
          <p:nvPr/>
        </p:nvSpPr>
        <p:spPr>
          <a:xfrm>
            <a:off x="610025" y="1135825"/>
            <a:ext cx="2975381" cy="2603559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 Востребованность</a:t>
            </a:r>
            <a:r>
              <a:rPr b="0" i="0" lang="en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0" name="Google Shape;1440;p9"/>
          <p:cNvSpPr/>
          <p:nvPr/>
        </p:nvSpPr>
        <p:spPr>
          <a:xfrm>
            <a:off x="5156628" y="3968900"/>
            <a:ext cx="2077663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9"/>
          <p:cNvSpPr/>
          <p:nvPr/>
        </p:nvSpPr>
        <p:spPr>
          <a:xfrm>
            <a:off x="5156613" y="3968910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2" name="Google Shape;1442;p9"/>
          <p:cNvSpPr/>
          <p:nvPr/>
        </p:nvSpPr>
        <p:spPr>
          <a:xfrm>
            <a:off x="5156625" y="100350"/>
            <a:ext cx="2292823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9"/>
          <p:cNvSpPr/>
          <p:nvPr/>
        </p:nvSpPr>
        <p:spPr>
          <a:xfrm>
            <a:off x="5156613" y="100348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4" name="Google Shape;1444;p9"/>
          <p:cNvSpPr/>
          <p:nvPr/>
        </p:nvSpPr>
        <p:spPr>
          <a:xfrm>
            <a:off x="5156613" y="2089089"/>
            <a:ext cx="1673162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9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6" name="Google Shape;1446;p9"/>
          <p:cNvSpPr/>
          <p:nvPr/>
        </p:nvSpPr>
        <p:spPr>
          <a:xfrm>
            <a:off x="7018674" y="1249975"/>
            <a:ext cx="1865306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9"/>
          <p:cNvSpPr/>
          <p:nvPr/>
        </p:nvSpPr>
        <p:spPr>
          <a:xfrm>
            <a:off x="7018680" y="1249974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8" name="Google Shape;1448;p9"/>
          <p:cNvSpPr/>
          <p:nvPr/>
        </p:nvSpPr>
        <p:spPr>
          <a:xfrm>
            <a:off x="7018680" y="2927178"/>
            <a:ext cx="1672168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9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0" name="Google Shape;1450;p9"/>
          <p:cNvSpPr txBox="1"/>
          <p:nvPr/>
        </p:nvSpPr>
        <p:spPr>
          <a:xfrm>
            <a:off x="7411575" y="1328338"/>
            <a:ext cx="14724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Технический прогресс и инновации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1" name="Google Shape;1451;p9"/>
          <p:cNvSpPr txBox="1"/>
          <p:nvPr/>
        </p:nvSpPr>
        <p:spPr>
          <a:xfrm>
            <a:off x="5556925" y="2130200"/>
            <a:ext cx="13032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Оборонная отрасль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2" name="Google Shape;1452;p9"/>
          <p:cNvSpPr txBox="1"/>
          <p:nvPr/>
        </p:nvSpPr>
        <p:spPr>
          <a:xfrm>
            <a:off x="5535875" y="3907425"/>
            <a:ext cx="19683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Авиационная и космическая отрасли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3" name="Google Shape;1453;p9"/>
          <p:cNvSpPr txBox="1"/>
          <p:nvPr/>
        </p:nvSpPr>
        <p:spPr>
          <a:xfrm>
            <a:off x="7449450" y="2997800"/>
            <a:ext cx="13401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Энергетика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4" name="Google Shape;1454;p9"/>
          <p:cNvSpPr txBox="1"/>
          <p:nvPr/>
        </p:nvSpPr>
        <p:spPr>
          <a:xfrm>
            <a:off x="5558525" y="120650"/>
            <a:ext cx="1923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2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Развитие        промышленности</a:t>
            </a:r>
            <a:endParaRPr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60" name="Google Shape;1460;p10"/>
          <p:cNvSpPr txBox="1"/>
          <p:nvPr/>
        </p:nvSpPr>
        <p:spPr>
          <a:xfrm>
            <a:off x="151550" y="1013925"/>
            <a:ext cx="384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Промышленные предприятия</a:t>
            </a:r>
            <a:endParaRPr b="1" i="0" sz="1500" u="none" cap="none" strike="noStrike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1" name="Google Shape;1461;p10"/>
          <p:cNvSpPr txBox="1"/>
          <p:nvPr/>
        </p:nvSpPr>
        <p:spPr>
          <a:xfrm>
            <a:off x="205200" y="2344500"/>
            <a:ext cx="24555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263C4C"/>
                </a:solidFill>
                <a:latin typeface="Montserrat"/>
                <a:ea typeface="Montserrat"/>
                <a:cs typeface="Montserrat"/>
                <a:sym typeface="Montserrat"/>
              </a:rPr>
              <a:t>Авиационная и автомобильная промышленность</a:t>
            </a:r>
            <a:endParaRPr b="1" i="0" sz="1500" u="none" cap="none" strike="noStrike">
              <a:solidFill>
                <a:srgbClr val="263C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10"/>
          <p:cNvSpPr txBox="1"/>
          <p:nvPr/>
        </p:nvSpPr>
        <p:spPr>
          <a:xfrm>
            <a:off x="231950" y="4131975"/>
            <a:ext cx="3540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FFA66F"/>
                </a:solidFill>
                <a:latin typeface="Montserrat"/>
                <a:ea typeface="Montserrat"/>
                <a:cs typeface="Montserrat"/>
                <a:sym typeface="Montserrat"/>
              </a:rPr>
              <a:t>Энергетические компании</a:t>
            </a:r>
            <a:endParaRPr b="1" i="0" sz="1500" u="none" cap="none" strike="noStrike">
              <a:solidFill>
                <a:srgbClr val="FFA6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10"/>
          <p:cNvSpPr txBox="1"/>
          <p:nvPr/>
        </p:nvSpPr>
        <p:spPr>
          <a:xfrm>
            <a:off x="6045025" y="990750"/>
            <a:ext cx="24555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263C4C"/>
                </a:solidFill>
                <a:latin typeface="Montserrat"/>
                <a:ea typeface="Montserrat"/>
                <a:cs typeface="Montserrat"/>
                <a:sym typeface="Montserrat"/>
              </a:rPr>
              <a:t>Строительство и инфраструктурные проекты</a:t>
            </a:r>
            <a:endParaRPr b="1" i="0" sz="1500" u="none" cap="none" strike="noStrike">
              <a:solidFill>
                <a:srgbClr val="263C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10"/>
          <p:cNvSpPr txBox="1"/>
          <p:nvPr/>
        </p:nvSpPr>
        <p:spPr>
          <a:xfrm>
            <a:off x="6579475" y="2556425"/>
            <a:ext cx="24555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Оборонная промышленность</a:t>
            </a:r>
            <a:endParaRPr b="1" i="0" sz="1500" u="none" cap="none" strike="noStrike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p10"/>
          <p:cNvSpPr txBox="1"/>
          <p:nvPr/>
        </p:nvSpPr>
        <p:spPr>
          <a:xfrm>
            <a:off x="5901075" y="4178025"/>
            <a:ext cx="33321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263C4C"/>
                </a:solidFill>
                <a:latin typeface="Montserrat"/>
                <a:ea typeface="Montserrat"/>
                <a:cs typeface="Montserrat"/>
                <a:sym typeface="Montserrat"/>
              </a:rPr>
              <a:t>Космическая промышленность</a:t>
            </a:r>
            <a:endParaRPr b="1" i="0" sz="1500" u="none" cap="none" strike="noStrike">
              <a:solidFill>
                <a:srgbClr val="263C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6" name="Google Shape;1466;p10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3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7" name="Google Shape;1467;p10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68" name="Google Shape;1468;p10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9" name="Google Shape;1469;p10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0" name="Google Shape;1470;p10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1" name="Google Shape;1471;p10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2" name="Google Shape;1472;p10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3" name="Google Shape;1473;p10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4" name="Google Shape;1474;p10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0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1"/>
          <p:cNvSpPr txBox="1"/>
          <p:nvPr/>
        </p:nvSpPr>
        <p:spPr>
          <a:xfrm>
            <a:off x="2987235" y="411475"/>
            <a:ext cx="31491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Образование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1481" name="Google Shape;1481;p11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82" name="Google Shape;1482;p11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1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1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1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1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1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1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1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8" name="Google Shape;1548;p11"/>
          <p:cNvSpPr txBox="1"/>
          <p:nvPr/>
        </p:nvSpPr>
        <p:spPr>
          <a:xfrm>
            <a:off x="171700" y="1462373"/>
            <a:ext cx="2111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9" name="Google Shape;1549;p11"/>
          <p:cNvSpPr txBox="1"/>
          <p:nvPr/>
        </p:nvSpPr>
        <p:spPr>
          <a:xfrm>
            <a:off x="6711900" y="1492825"/>
            <a:ext cx="2432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Уфимский государственный нефтяной технический университет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0" name="Google Shape;1550;p11"/>
          <p:cNvSpPr txBox="1"/>
          <p:nvPr/>
        </p:nvSpPr>
        <p:spPr>
          <a:xfrm>
            <a:off x="387400" y="2530350"/>
            <a:ext cx="18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университет “УГМК”</a:t>
            </a:r>
            <a:endParaRPr b="0" i="0" sz="1400" u="none" cap="none" strike="noStrike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1" name="Google Shape;1551;p11"/>
          <p:cNvSpPr txBox="1"/>
          <p:nvPr/>
        </p:nvSpPr>
        <p:spPr>
          <a:xfrm>
            <a:off x="0" y="3492425"/>
            <a:ext cx="228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2" name="Google Shape;1552;p11"/>
          <p:cNvSpPr txBox="1"/>
          <p:nvPr/>
        </p:nvSpPr>
        <p:spPr>
          <a:xfrm>
            <a:off x="6711900" y="2530350"/>
            <a:ext cx="243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лесотехнический университет</a:t>
            </a:r>
            <a:endParaRPr b="0" i="0" sz="2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Практика</a:t>
            </a:r>
            <a:endParaRPr sz="2500"/>
          </a:p>
        </p:txBody>
      </p:sp>
      <p:pic>
        <p:nvPicPr>
          <p:cNvPr id="1558" name="Google Shape;15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75" y="1017725"/>
            <a:ext cx="5662025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2"/>
          <p:cNvSpPr txBox="1"/>
          <p:nvPr/>
        </p:nvSpPr>
        <p:spPr>
          <a:xfrm>
            <a:off x="6303000" y="656700"/>
            <a:ext cx="2529300" cy="4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Необходимые инструменты: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“Прямоугольник”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“Окружность”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“Отрезок”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Необходимые функции: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“Элемент выдавливания”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“Вырезать выдавливания”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“Авторазмер”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“Скругление”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