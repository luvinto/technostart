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Dela Gothic One"/>
      <p:regular r:id="rId25"/>
    </p:embeddedFont>
    <p:embeddedFont>
      <p:font typeface="Fira Sans Medium"/>
      <p:regular r:id="rId26"/>
      <p:bold r:id="rId27"/>
      <p:italic r:id="rId28"/>
      <p:boldItalic r:id="rId29"/>
    </p:embeddedFont>
    <p:embeddedFont>
      <p:font typeface="Fira Sans SemiBold"/>
      <p:regular r:id="rId30"/>
      <p:bold r:id="rId31"/>
      <p:italic r:id="rId32"/>
      <p:boldItalic r:id="rId33"/>
    </p:embeddedFont>
    <p:embeddedFont>
      <p:font typeface="Fira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  <p:ext uri="GoogleSlidesCustomDataVersion2">
      <go:slidesCustomData xmlns:go="http://customooxmlschemas.google.com/" r:id="rId38" roundtripDataSignature="AMtx7mgY/dbaborePKs4X5DokFfmIqRE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Medium-regular.fntdata"/><Relationship Id="rId25" Type="http://schemas.openxmlformats.org/officeDocument/2006/relationships/font" Target="fonts/DelaGothicOne-regular.fntdata"/><Relationship Id="rId28" Type="http://schemas.openxmlformats.org/officeDocument/2006/relationships/font" Target="fonts/FiraSansMedium-italic.fntdata"/><Relationship Id="rId27" Type="http://schemas.openxmlformats.org/officeDocument/2006/relationships/font" Target="fonts/FiraSa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SemiBold-bold.fntdata"/><Relationship Id="rId30" Type="http://schemas.openxmlformats.org/officeDocument/2006/relationships/font" Target="fonts/FiraSa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FiraSansSemiBold-italic.fntdata"/><Relationship Id="rId13" Type="http://schemas.openxmlformats.org/officeDocument/2006/relationships/slide" Target="slides/slide8.xml"/><Relationship Id="rId35" Type="http://schemas.openxmlformats.org/officeDocument/2006/relationships/font" Target="fonts/FiraSans-bold.fntdata"/><Relationship Id="rId12" Type="http://schemas.openxmlformats.org/officeDocument/2006/relationships/slide" Target="slides/slide7.xml"/><Relationship Id="rId34" Type="http://schemas.openxmlformats.org/officeDocument/2006/relationships/font" Target="fonts/FiraSans-regular.fntdata"/><Relationship Id="rId15" Type="http://schemas.openxmlformats.org/officeDocument/2006/relationships/slide" Target="slides/slide10.xml"/><Relationship Id="rId37" Type="http://schemas.openxmlformats.org/officeDocument/2006/relationships/font" Target="fonts/FiraSans-boldItalic.fntdata"/><Relationship Id="rId14" Type="http://schemas.openxmlformats.org/officeDocument/2006/relationships/slide" Target="slides/slide9.xml"/><Relationship Id="rId36" Type="http://schemas.openxmlformats.org/officeDocument/2006/relationships/font" Target="fonts/FiraSans-italic.fntdata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1" name="Google Shape;13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9" name="Google Shape;13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3" name="Google Shape;14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3" name="Google Shape;14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4" name="Google Shape;14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57200" y="2126125"/>
            <a:ext cx="40644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Энергетик</a:t>
            </a:r>
            <a:endParaRPr b="0" i="0" sz="3600" u="none" cap="none" strike="noStrike">
              <a:solidFill>
                <a:srgbClr val="00002A"/>
              </a:solidFill>
              <a:highlight>
                <a:srgbClr val="FFFFFF"/>
              </a:highlight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6" name="Google Shape;56;p1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184909" y="571494"/>
            <a:ext cx="4572000" cy="3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Энергетик</a:t>
            </a:r>
            <a:r>
              <a:rPr lang="en" sz="18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— это специалист, который обеспечивает бесперебойную работу систем энергоснабжения на производстве, в городском хозяйстве и других сферах деятельности человека. Он отвечает за генерацию, передачу и распределение различных видов энергии, таких как электрическая, тепловая и другие.</a:t>
            </a:r>
            <a:endParaRPr sz="22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2359" y="515950"/>
            <a:ext cx="4082291" cy="4305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/>
        </p:nvSpPr>
        <p:spPr>
          <a:xfrm>
            <a:off x="220450" y="155450"/>
            <a:ext cx="51942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b="1" i="0" sz="2500" u="none" cap="none" strike="noStrike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220450" y="800100"/>
            <a:ext cx="55533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Возникновение профессии энергетика можно отнести к концу XIX века, когда начали появляться первые электрические машины и устройства. </a:t>
            </a:r>
            <a:endParaRPr b="0" i="0" sz="1500" u="none" cap="none" strike="noStrike">
              <a:solidFill>
                <a:schemeClr val="hlink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В 1870-х годах бельгийский инженер Зеноб Грамм изобрёл генератор постоянного тока, а американец Томас Эдисон разработал первую практичную лампу накаливания. В России первая электростанция появилась в 1895 году на Охтинских пороховых заводах в Санкт-Петербурге. В первой половине XX века энергетика становится одной из ключевых отраслей промышленности. Строятся крупные тепловые и гидроэлектростанции, создаются региональные и национальные энергосистемы.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750" y="296200"/>
            <a:ext cx="3219324" cy="256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6150" y="3015176"/>
            <a:ext cx="2963888" cy="197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/>
        </p:nvSpPr>
        <p:spPr>
          <a:xfrm>
            <a:off x="1087300" y="1333199"/>
            <a:ext cx="2204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Проектирование энергетических систем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2691100" y="2126900"/>
            <a:ext cx="306000" cy="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009550" y="3558775"/>
            <a:ext cx="2433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потребления энергии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3707425" y="25478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5897868" y="3558766"/>
            <a:ext cx="2837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работы энергосистем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3668582" y="28637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710250" y="135725"/>
            <a:ext cx="77235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284450" y="14697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3641800" y="22220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6236950" y="1093475"/>
            <a:ext cx="29970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Обслуживание и ремонт оборудования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890950" y="225503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3753594" y="21773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95" name="Google Shape;195;p4"/>
          <p:cNvGrpSpPr/>
          <p:nvPr/>
        </p:nvGrpSpPr>
        <p:grpSpPr>
          <a:xfrm>
            <a:off x="8488555" y="1304206"/>
            <a:ext cx="630131" cy="630104"/>
            <a:chOff x="6323089" y="2499219"/>
            <a:chExt cx="630131" cy="630104"/>
          </a:xfrm>
        </p:grpSpPr>
        <p:sp>
          <p:nvSpPr>
            <p:cNvPr id="196" name="Google Shape;196;p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02" name="Google Shape;202;p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8433738" y="3623268"/>
            <a:ext cx="630104" cy="630130"/>
            <a:chOff x="2190776" y="3637093"/>
            <a:chExt cx="630104" cy="630130"/>
          </a:xfrm>
        </p:grpSpPr>
        <p:sp>
          <p:nvSpPr>
            <p:cNvPr id="210" name="Google Shape;210;p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4"/>
          <p:cNvGrpSpPr/>
          <p:nvPr/>
        </p:nvGrpSpPr>
        <p:grpSpPr>
          <a:xfrm>
            <a:off x="249676" y="3623294"/>
            <a:ext cx="630104" cy="630104"/>
            <a:chOff x="2190776" y="2499219"/>
            <a:chExt cx="630104" cy="630104"/>
          </a:xfrm>
        </p:grpSpPr>
        <p:sp>
          <p:nvSpPr>
            <p:cNvPr id="215" name="Google Shape;215;p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4"/>
          <p:cNvGrpSpPr/>
          <p:nvPr/>
        </p:nvGrpSpPr>
        <p:grpSpPr>
          <a:xfrm>
            <a:off x="2968732" y="1375162"/>
            <a:ext cx="3408752" cy="2878229"/>
            <a:chOff x="2820853" y="1403508"/>
            <a:chExt cx="3502263" cy="2951424"/>
          </a:xfrm>
        </p:grpSpPr>
        <p:sp>
          <p:nvSpPr>
            <p:cNvPr id="221" name="Google Shape;221;p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 txBox="1"/>
          <p:nvPr/>
        </p:nvSpPr>
        <p:spPr>
          <a:xfrm>
            <a:off x="0" y="921025"/>
            <a:ext cx="33006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A26A2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Знание нормативно-технической документации</a:t>
            </a:r>
            <a:r>
              <a:rPr b="0" i="0" lang="en" sz="1200" u="none" cap="none" strike="noStrike">
                <a:solidFill>
                  <a:srgbClr val="A26A2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solidFill>
                <a:srgbClr val="A26A22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ПУЭ, ПТЭ, правил по охране труда при эксплуатации электроустановок.</a:t>
            </a:r>
            <a:endParaRPr b="1" i="0" sz="1200" u="none" cap="none" strike="noStrike">
              <a:solidFill>
                <a:srgbClr val="E69138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-5750" y="3246500"/>
            <a:ext cx="2946900" cy="17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Ориентация в отраслевых стандартах</a:t>
            </a:r>
            <a:endParaRPr b="1" i="0" sz="1200" u="none" cap="none" strike="noStrike">
              <a:solidFill>
                <a:schemeClr val="dk2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Технических регламентах и методиках проведения испытаний энергетического оборудования.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60606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C4C4C4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717375" y="1103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19" name="Google Shape;319;p8"/>
          <p:cNvSpPr txBox="1"/>
          <p:nvPr/>
        </p:nvSpPr>
        <p:spPr>
          <a:xfrm>
            <a:off x="6198025" y="591550"/>
            <a:ext cx="2778000" cy="17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Способность быстро анализировать большие объемы данных.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6262825" y="3246500"/>
            <a:ext cx="28812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0475E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Навыки технико-экономического анализа</a:t>
            </a:r>
            <a:r>
              <a:rPr b="0" i="0" lang="en" sz="1200" u="none" cap="none" strike="noStrike">
                <a:solidFill>
                  <a:srgbClr val="30475E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solidFill>
                <a:srgbClr val="30475E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Для оценки эффективности энергетических проектов и обоснования инвестиций в модернизацию оборудования.</a:t>
            </a:r>
            <a:endParaRPr b="1" i="0" sz="1200" u="none" cap="none" strike="noStrike">
              <a:solidFill>
                <a:srgbClr val="07376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0475E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21" name="Google Shape;321;p8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8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23" name="Google Shape;323;p8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"/>
          <p:cNvGrpSpPr/>
          <p:nvPr/>
        </p:nvGrpSpPr>
        <p:grpSpPr>
          <a:xfrm>
            <a:off x="456554" y="892682"/>
            <a:ext cx="8230888" cy="3858239"/>
            <a:chOff x="595975" y="1532525"/>
            <a:chExt cx="6409850" cy="3004625"/>
          </a:xfrm>
        </p:grpSpPr>
        <p:sp>
          <p:nvSpPr>
            <p:cNvPr id="346" name="Google Shape;346;p5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2" name="Google Shape;1372;p5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Специализации</a:t>
            </a:r>
            <a:r>
              <a:rPr b="0" i="0" lang="en" sz="2500" u="none" cap="none" strike="noStrik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73" name="Google Shape;1373;p5"/>
          <p:cNvSpPr txBox="1"/>
          <p:nvPr/>
        </p:nvSpPr>
        <p:spPr>
          <a:xfrm>
            <a:off x="232775" y="1638300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Инженер-электрик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4" name="Google Shape;1374;p5"/>
          <p:cNvSpPr txBox="1"/>
          <p:nvPr/>
        </p:nvSpPr>
        <p:spPr>
          <a:xfrm>
            <a:off x="70042" y="2941625"/>
            <a:ext cx="3941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Инженер-теплотехник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5"/>
          <p:cNvSpPr txBox="1"/>
          <p:nvPr/>
        </p:nvSpPr>
        <p:spPr>
          <a:xfrm>
            <a:off x="232775" y="4147750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Инженер-проектировщик энергообъектов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6" name="Google Shape;1376;p5"/>
          <p:cNvSpPr txBox="1"/>
          <p:nvPr/>
        </p:nvSpPr>
        <p:spPr>
          <a:xfrm>
            <a:off x="5330100" y="1075536"/>
            <a:ext cx="3181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Энергетик-аналитик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7" name="Google Shape;1377;p5"/>
          <p:cNvSpPr txBox="1"/>
          <p:nvPr/>
        </p:nvSpPr>
        <p:spPr>
          <a:xfrm>
            <a:off x="5330100" y="2207404"/>
            <a:ext cx="38139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Энергетик-консультант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5"/>
          <p:cNvSpPr txBox="1"/>
          <p:nvPr/>
        </p:nvSpPr>
        <p:spPr>
          <a:xfrm>
            <a:off x="5234826" y="3537363"/>
            <a:ext cx="3813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 по релейной защите и автоматике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6" title="546539970055647916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4618" y="2637675"/>
            <a:ext cx="1879370" cy="250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6" title="трансформатор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7725"/>
            <a:ext cx="3702700" cy="1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6" title="энергия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925" y="1642750"/>
            <a:ext cx="3011648" cy="1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6" title="свет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675" y="3263750"/>
            <a:ext cx="2233125" cy="15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8850" y="2563308"/>
            <a:ext cx="1935153" cy="25801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7"/>
          <p:cNvSpPr txBox="1"/>
          <p:nvPr/>
        </p:nvSpPr>
        <p:spPr>
          <a:xfrm>
            <a:off x="5123953" y="718950"/>
            <a:ext cx="3035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marR="0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" sz="1968" u="none" cap="none" strike="noStrike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Трансформатор</a:t>
            </a:r>
            <a:endParaRPr b="0" i="0" sz="1968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393" name="Google Shape;1393;p7"/>
          <p:cNvSpPr txBox="1"/>
          <p:nvPr/>
        </p:nvSpPr>
        <p:spPr>
          <a:xfrm>
            <a:off x="5123939" y="2344495"/>
            <a:ext cx="24600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marR="0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" sz="1968" u="none" cap="none" strike="noStrike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Энергия</a:t>
            </a:r>
            <a:endParaRPr b="0" i="0" sz="1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7"/>
          <p:cNvSpPr txBox="1"/>
          <p:nvPr/>
        </p:nvSpPr>
        <p:spPr>
          <a:xfrm>
            <a:off x="5253810" y="3775653"/>
            <a:ext cx="24600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marR="0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" sz="1968" u="none" cap="none" strike="noStrike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Свет</a:t>
            </a:r>
            <a:endParaRPr b="0" i="0" sz="1968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395" name="Google Shape;1395;p7"/>
          <p:cNvSpPr/>
          <p:nvPr/>
        </p:nvSpPr>
        <p:spPr>
          <a:xfrm>
            <a:off x="4966250" y="800100"/>
            <a:ext cx="471300" cy="2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7"/>
          <p:cNvSpPr/>
          <p:nvPr/>
        </p:nvSpPr>
        <p:spPr>
          <a:xfrm>
            <a:off x="4991100" y="2425650"/>
            <a:ext cx="471300" cy="2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7"/>
          <p:cNvSpPr/>
          <p:nvPr/>
        </p:nvSpPr>
        <p:spPr>
          <a:xfrm>
            <a:off x="4966250" y="3856800"/>
            <a:ext cx="471300" cy="2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8" name="Google Shape;1398;p7" title="трансформатор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7725"/>
            <a:ext cx="3702700" cy="1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7" title="энергия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925" y="1642750"/>
            <a:ext cx="3011648" cy="1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7" title="свет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675" y="3263750"/>
            <a:ext cx="2233125" cy="15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9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9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9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9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9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9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9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9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9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9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9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 Востребованность</a:t>
            </a:r>
            <a:endParaRPr b="0" i="0" sz="14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16" name="Google Shape;1416;p9"/>
          <p:cNvSpPr/>
          <p:nvPr/>
        </p:nvSpPr>
        <p:spPr>
          <a:xfrm>
            <a:off x="5067250" y="4080075"/>
            <a:ext cx="2260484" cy="1006483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9"/>
          <p:cNvSpPr/>
          <p:nvPr/>
        </p:nvSpPr>
        <p:spPr>
          <a:xfrm>
            <a:off x="5091351" y="4097713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18" name="Google Shape;1418;p9"/>
          <p:cNvSpPr/>
          <p:nvPr/>
        </p:nvSpPr>
        <p:spPr>
          <a:xfrm>
            <a:off x="5115450" y="146075"/>
            <a:ext cx="2533542" cy="863727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9"/>
          <p:cNvSpPr/>
          <p:nvPr/>
        </p:nvSpPr>
        <p:spPr>
          <a:xfrm>
            <a:off x="5091363" y="146075"/>
            <a:ext cx="430735" cy="863727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0" name="Google Shape;1420;p9"/>
          <p:cNvSpPr/>
          <p:nvPr/>
        </p:nvSpPr>
        <p:spPr>
          <a:xfrm>
            <a:off x="5156626" y="2089100"/>
            <a:ext cx="1871110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9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2" name="Google Shape;1422;p9"/>
          <p:cNvSpPr/>
          <p:nvPr/>
        </p:nvSpPr>
        <p:spPr>
          <a:xfrm>
            <a:off x="6844151" y="1107750"/>
            <a:ext cx="2260444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9"/>
          <p:cNvSpPr/>
          <p:nvPr/>
        </p:nvSpPr>
        <p:spPr>
          <a:xfrm>
            <a:off x="6829780" y="1063849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4" name="Google Shape;1424;p9"/>
          <p:cNvSpPr/>
          <p:nvPr/>
        </p:nvSpPr>
        <p:spPr>
          <a:xfrm>
            <a:off x="7018674" y="2927175"/>
            <a:ext cx="1871040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9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6" name="Google Shape;1426;p9"/>
          <p:cNvSpPr txBox="1"/>
          <p:nvPr/>
        </p:nvSpPr>
        <p:spPr>
          <a:xfrm>
            <a:off x="5522100" y="2219000"/>
            <a:ext cx="1524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Рост энергоемкости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7" name="Google Shape;1427;p9"/>
          <p:cNvSpPr txBox="1"/>
          <p:nvPr/>
        </p:nvSpPr>
        <p:spPr>
          <a:xfrm>
            <a:off x="6772575" y="1161500"/>
            <a:ext cx="2403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Энергосбережение и экология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8" name="Google Shape;1428;p9"/>
          <p:cNvSpPr txBox="1"/>
          <p:nvPr/>
        </p:nvSpPr>
        <p:spPr>
          <a:xfrm>
            <a:off x="5032287" y="4080063"/>
            <a:ext cx="2330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Цифровизация и автоматизация 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9" name="Google Shape;1429;p9"/>
          <p:cNvSpPr txBox="1"/>
          <p:nvPr/>
        </p:nvSpPr>
        <p:spPr>
          <a:xfrm>
            <a:off x="6980775" y="3069425"/>
            <a:ext cx="208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Современные технологии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0" name="Google Shape;1430;p9"/>
          <p:cNvSpPr txBox="1"/>
          <p:nvPr/>
        </p:nvSpPr>
        <p:spPr>
          <a:xfrm>
            <a:off x="5156625" y="76650"/>
            <a:ext cx="25884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Географическая востребованность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36" name="Google Shape;1436;p10"/>
          <p:cNvSpPr txBox="1"/>
          <p:nvPr/>
        </p:nvSpPr>
        <p:spPr>
          <a:xfrm>
            <a:off x="6472825" y="2596925"/>
            <a:ext cx="2214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06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Электростанции</a:t>
            </a:r>
            <a:endParaRPr b="1" i="0" sz="1400" u="none" cap="none" strike="noStrike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7" name="Google Shape;1437;p10"/>
          <p:cNvSpPr txBox="1"/>
          <p:nvPr/>
        </p:nvSpPr>
        <p:spPr>
          <a:xfrm>
            <a:off x="457200" y="2631066"/>
            <a:ext cx="2214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7376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Электросетевые компании</a:t>
            </a:r>
            <a:endParaRPr b="1" i="0" sz="1400" u="none" cap="none" strike="noStrike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8" name="Google Shape;1438;p10"/>
          <p:cNvSpPr txBox="1"/>
          <p:nvPr/>
        </p:nvSpPr>
        <p:spPr>
          <a:xfrm>
            <a:off x="0" y="4074800"/>
            <a:ext cx="3349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913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Научно-исследовательские институты</a:t>
            </a:r>
            <a:endParaRPr b="1" i="0" sz="1400" u="none" cap="none" strike="noStrike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0"/>
          <p:cNvSpPr txBox="1"/>
          <p:nvPr/>
        </p:nvSpPr>
        <p:spPr>
          <a:xfrm>
            <a:off x="5965825" y="1040050"/>
            <a:ext cx="2920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30475E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Строительные и монтажные организации</a:t>
            </a:r>
            <a:endParaRPr b="1" i="0" sz="1800" u="none" cap="none" strike="noStrike">
              <a:solidFill>
                <a:srgbClr val="30475E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0"/>
          <p:cNvSpPr txBox="1"/>
          <p:nvPr/>
        </p:nvSpPr>
        <p:spPr>
          <a:xfrm>
            <a:off x="102350" y="990400"/>
            <a:ext cx="28101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Государственные регулирующие и надзорные органы</a:t>
            </a:r>
            <a:endParaRPr b="1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0"/>
          <p:cNvSpPr txBox="1"/>
          <p:nvPr/>
        </p:nvSpPr>
        <p:spPr>
          <a:xfrm>
            <a:off x="5776500" y="3936801"/>
            <a:ext cx="25935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Промышленные предприятия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2" name="Google Shape;1442;p10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3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3" name="Google Shape;1443;p10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44" name="Google Shape;1444;p10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5" name="Google Shape;1445;p10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6" name="Google Shape;1446;p10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7" name="Google Shape;1447;p10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8" name="Google Shape;1448;p10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9" name="Google Shape;1449;p10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0" name="Google Shape;1450;p10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0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6" name="Google Shape;1456;p11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57" name="Google Shape;1457;p11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1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1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1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p11"/>
          <p:cNvSpPr txBox="1"/>
          <p:nvPr/>
        </p:nvSpPr>
        <p:spPr>
          <a:xfrm>
            <a:off x="749000" y="221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Образование</a:t>
            </a:r>
            <a:r>
              <a:rPr b="0" i="0" lang="en" sz="2500" u="none" cap="none" strike="noStrik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4" name="Google Shape;1524;p11"/>
          <p:cNvSpPr txBox="1"/>
          <p:nvPr/>
        </p:nvSpPr>
        <p:spPr>
          <a:xfrm>
            <a:off x="138300" y="1223350"/>
            <a:ext cx="2208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университет путей сообщения 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(УрГУПС)</a:t>
            </a:r>
            <a:endParaRPr b="0" i="0" sz="1200" u="none" cap="none" strike="noStrike">
              <a:solidFill>
                <a:srgbClr val="00000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5" name="Google Shape;1525;p11"/>
          <p:cNvSpPr txBox="1"/>
          <p:nvPr/>
        </p:nvSpPr>
        <p:spPr>
          <a:xfrm>
            <a:off x="457200" y="2572975"/>
            <a:ext cx="1854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 (УрФУ)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6" name="Google Shape;1526;p11"/>
          <p:cNvSpPr txBox="1"/>
          <p:nvPr/>
        </p:nvSpPr>
        <p:spPr>
          <a:xfrm>
            <a:off x="37875" y="3589300"/>
            <a:ext cx="23739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Технический университет  УГМК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7" name="Google Shape;1527;p11"/>
          <p:cNvSpPr txBox="1"/>
          <p:nvPr/>
        </p:nvSpPr>
        <p:spPr>
          <a:xfrm>
            <a:off x="6777275" y="988450"/>
            <a:ext cx="2258700" cy="17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Московский энергетический институт (МЭИ)</a:t>
            </a:r>
            <a:endParaRPr b="0" i="0" sz="1200" u="none" cap="none" strike="noStrike">
              <a:solidFill>
                <a:srgbClr val="000000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8" name="Google Shape;1528;p11"/>
          <p:cNvSpPr txBox="1"/>
          <p:nvPr/>
        </p:nvSpPr>
        <p:spPr>
          <a:xfrm>
            <a:off x="6777275" y="2503738"/>
            <a:ext cx="22080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Национальный исследовательский технологический университет «МИСиС»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(НИТУ МИСИС)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