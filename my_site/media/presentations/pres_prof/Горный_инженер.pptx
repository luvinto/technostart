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Dela Gothic One"/>
      <p:regular r:id="rId30"/>
    </p:embeddedFont>
    <p:embeddedFont>
      <p:font typeface="Fira Sans Medium"/>
      <p:regular r:id="rId31"/>
      <p:bold r:id="rId32"/>
      <p:italic r:id="rId33"/>
      <p:boldItalic r:id="rId34"/>
    </p:embeddedFont>
    <p:embeddedFont>
      <p:font typeface="Fira Sans SemiBold"/>
      <p:regular r:id="rId35"/>
      <p:bold r:id="rId36"/>
      <p:italic r:id="rId37"/>
      <p:boldItalic r:id="rId38"/>
    </p:embeddedFont>
    <p:embeddedFont>
      <p:font typeface="Fira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  <p:ext uri="GoogleSlidesCustomDataVersion2">
      <go:slidesCustomData xmlns:go="http://customooxmlschemas.google.com/" r:id="rId43" roundtripDataSignature="AMtx7mjXJFjaJBF9XMbcxa5aYpHoCm5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" orient="horz"/>
        <p:guide pos="288"/>
        <p:guide pos="5472"/>
        <p:guide pos="2984" orient="horz"/>
        <p:guide pos="50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-bold.fntdata"/><Relationship Id="rId20" Type="http://schemas.openxmlformats.org/officeDocument/2006/relationships/font" Target="fonts/Roboto-italic.fntdata"/><Relationship Id="rId42" Type="http://schemas.openxmlformats.org/officeDocument/2006/relationships/font" Target="fonts/FiraSans-boldItalic.fntdata"/><Relationship Id="rId41" Type="http://schemas.openxmlformats.org/officeDocument/2006/relationships/font" Target="fonts/FiraSans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Roboto-boldItalic.fntdata"/><Relationship Id="rId43" Type="http://customschemas.google.com/relationships/presentationmetadata" Target="meta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Medium-regular.fntdata"/><Relationship Id="rId30" Type="http://schemas.openxmlformats.org/officeDocument/2006/relationships/font" Target="fonts/DelaGothicOne-regular.fntdata"/><Relationship Id="rId11" Type="http://schemas.openxmlformats.org/officeDocument/2006/relationships/slide" Target="slides/slide6.xml"/><Relationship Id="rId33" Type="http://schemas.openxmlformats.org/officeDocument/2006/relationships/font" Target="fonts/FiraSansMedium-italic.fntdata"/><Relationship Id="rId10" Type="http://schemas.openxmlformats.org/officeDocument/2006/relationships/slide" Target="slides/slide5.xml"/><Relationship Id="rId32" Type="http://schemas.openxmlformats.org/officeDocument/2006/relationships/font" Target="fonts/FiraSansMedium-bold.fntdata"/><Relationship Id="rId13" Type="http://schemas.openxmlformats.org/officeDocument/2006/relationships/slide" Target="slides/slide8.xml"/><Relationship Id="rId35" Type="http://schemas.openxmlformats.org/officeDocument/2006/relationships/font" Target="fonts/FiraSans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FiraSa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FiraSansSemiBold-italic.fntdata"/><Relationship Id="rId14" Type="http://schemas.openxmlformats.org/officeDocument/2006/relationships/slide" Target="slides/slide9.xml"/><Relationship Id="rId36" Type="http://schemas.openxmlformats.org/officeDocument/2006/relationships/font" Target="fonts/FiraSansSemiBold-bold.fntdata"/><Relationship Id="rId17" Type="http://schemas.openxmlformats.org/officeDocument/2006/relationships/slide" Target="slides/slide12.xml"/><Relationship Id="rId39" Type="http://schemas.openxmlformats.org/officeDocument/2006/relationships/font" Target="fonts/FiraSans-regular.fntdata"/><Relationship Id="rId16" Type="http://schemas.openxmlformats.org/officeDocument/2006/relationships/slide" Target="slides/slide11.xml"/><Relationship Id="rId38" Type="http://schemas.openxmlformats.org/officeDocument/2006/relationships/font" Target="fonts/FiraSansSemiBold-bold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1" name="Google Shape;14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2" name="Google Shape;14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6" name="Google Shape;14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7" name="Google Shape;14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4" name="Google Shape;15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"/>
          <p:cNvGrpSpPr/>
          <p:nvPr/>
        </p:nvGrpSpPr>
        <p:grpSpPr>
          <a:xfrm>
            <a:off x="4735281" y="1905920"/>
            <a:ext cx="4207415" cy="2966160"/>
            <a:chOff x="2523825" y="1354400"/>
            <a:chExt cx="4476450" cy="3155825"/>
          </a:xfrm>
        </p:grpSpPr>
        <p:sp>
          <p:nvSpPr>
            <p:cNvPr id="55" name="Google Shape;55;p1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1"/>
          <p:cNvSpPr txBox="1"/>
          <p:nvPr/>
        </p:nvSpPr>
        <p:spPr>
          <a:xfrm>
            <a:off x="351300" y="1489000"/>
            <a:ext cx="92583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Горный инженер</a:t>
            </a:r>
            <a:endParaRPr b="0" i="0" sz="36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457200" y="3122600"/>
            <a:ext cx="3295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/>
          <p:nvPr>
            <p:ph idx="1" type="body"/>
          </p:nvPr>
        </p:nvSpPr>
        <p:spPr>
          <a:xfrm>
            <a:off x="72901" y="800100"/>
            <a:ext cx="4206000" cy="3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1600"/>
              </a:spcAft>
              <a:buSzPts val="1200"/>
              <a:buNone/>
            </a:pPr>
            <a:r>
              <a:rPr b="1" lang="en" sz="1300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Горный инженер</a:t>
            </a:r>
            <a:r>
              <a:rPr lang="en" sz="1300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 — специалист в области горного дела, который занимается планированием, строительством и управлением горными работами, в том числе проектированием подземных сооружений для добычи полезных ископаемых, транспортных коммуникаций, рудников, карьеров и других объектов.</a:t>
            </a:r>
            <a:r>
              <a:rPr lang="en" sz="1300">
                <a:solidFill>
                  <a:srgbClr val="0A0A0A"/>
                </a:solidFill>
              </a:rPr>
              <a:t> </a:t>
            </a:r>
            <a:r>
              <a:rPr lang="en" sz="1300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Сочетая техническое мастерство с учетом экологических и социальных аспектов, горный инженер играет ключевую роль в обеспечении устойчивого использования недр и развития горнодобывающей промышленности.</a:t>
            </a:r>
            <a:endParaRPr sz="1300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0925" y="912887"/>
            <a:ext cx="4677425" cy="31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>
            <p:ph type="title"/>
          </p:nvPr>
        </p:nvSpPr>
        <p:spPr>
          <a:xfrm>
            <a:off x="118250" y="33625"/>
            <a:ext cx="55767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История профессии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77" name="Google Shape;177;p3"/>
          <p:cNvSpPr txBox="1"/>
          <p:nvPr>
            <p:ph idx="1" type="body"/>
          </p:nvPr>
        </p:nvSpPr>
        <p:spPr>
          <a:xfrm>
            <a:off x="118250" y="800088"/>
            <a:ext cx="4791900" cy="3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1600"/>
              </a:spcAft>
              <a:buSzPts val="1200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Профессия горного инженера имеет глубокие исторические корни, тесно связанные с развитием горного дела. Горное дело как вид деятельности по извлечению полезных ископаемых из недр земли зародилось задолго до нашей эры. В античную эпоху оно стало прибыльным занятием в Древней Греции и Римской империи. В новую эру горное дело эволюционировало под влиянием развивающегося естествознания: успехи химии и физики позволили проникнуть в глубокие недра земли. Её становление в России началось в XVIII веке и было обусловлено потребностями государства в освоении природных ресурсов. Лишь в 1700 году указом Петра I был учреждён Приказ рудокопных дел — первый шаг к централизованному управлению горным делом.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8675" y="1306150"/>
            <a:ext cx="4070976" cy="2713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/>
        </p:nvSpPr>
        <p:spPr>
          <a:xfrm>
            <a:off x="801500" y="2592038"/>
            <a:ext cx="1540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и подсчёт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4"/>
          <p:cNvSpPr txBox="1"/>
          <p:nvPr/>
        </p:nvSpPr>
        <p:spPr>
          <a:xfrm flipH="1">
            <a:off x="801500" y="3637100"/>
            <a:ext cx="2484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технической документации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710225" y="3723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Функции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6371500" y="1869213"/>
            <a:ext cx="1636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6548800" y="2387450"/>
            <a:ext cx="19965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использования оборудования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6119875" y="3637100"/>
            <a:ext cx="24849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Соблюдение стандартов и нормативов</a:t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9" name="Google Shape;189;p4"/>
          <p:cNvGrpSpPr/>
          <p:nvPr/>
        </p:nvGrpSpPr>
        <p:grpSpPr>
          <a:xfrm>
            <a:off x="8433714" y="1361318"/>
            <a:ext cx="630131" cy="630131"/>
            <a:chOff x="6323089" y="1361318"/>
            <a:chExt cx="630131" cy="630131"/>
          </a:xfrm>
        </p:grpSpPr>
        <p:sp>
          <p:nvSpPr>
            <p:cNvPr id="190" name="Google Shape;190;p4"/>
            <p:cNvSpPr/>
            <p:nvPr/>
          </p:nvSpPr>
          <p:spPr>
            <a:xfrm>
              <a:off x="6332385" y="1406385"/>
              <a:ext cx="612392" cy="539652"/>
            </a:xfrm>
            <a:custGeom>
              <a:rect b="b" l="l" r="r" t="t"/>
              <a:pathLst>
                <a:path extrusionOk="0" h="20261" w="22992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6474935" y="1526642"/>
              <a:ext cx="326465" cy="299484"/>
            </a:xfrm>
            <a:custGeom>
              <a:rect b="b" l="l" r="r" t="t"/>
              <a:pathLst>
                <a:path extrusionOk="0" h="11244" w="12257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6533133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6323089" y="1446524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4"/>
          <p:cNvGrpSpPr/>
          <p:nvPr/>
        </p:nvGrpSpPr>
        <p:grpSpPr>
          <a:xfrm>
            <a:off x="8433714" y="3637093"/>
            <a:ext cx="630131" cy="630130"/>
            <a:chOff x="6323089" y="3637093"/>
            <a:chExt cx="630131" cy="630130"/>
          </a:xfrm>
        </p:grpSpPr>
        <p:sp>
          <p:nvSpPr>
            <p:cNvPr id="195" name="Google Shape;195;p4"/>
            <p:cNvSpPr/>
            <p:nvPr/>
          </p:nvSpPr>
          <p:spPr>
            <a:xfrm>
              <a:off x="6368635" y="3682639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1"/>
                  </a:moveTo>
                  <a:cubicBezTo>
                    <a:pt x="4530" y="1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1"/>
                    <a:pt x="101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6504447" y="3817598"/>
              <a:ext cx="124013" cy="124865"/>
            </a:xfrm>
            <a:custGeom>
              <a:rect b="b" l="l" r="r" t="t"/>
              <a:pathLst>
                <a:path extrusionOk="0" h="4688" w="4656">
                  <a:moveTo>
                    <a:pt x="4054" y="381"/>
                  </a:moveTo>
                  <a:cubicBezTo>
                    <a:pt x="4213" y="381"/>
                    <a:pt x="4308" y="476"/>
                    <a:pt x="4308" y="602"/>
                  </a:cubicBezTo>
                  <a:lnTo>
                    <a:pt x="4308" y="4086"/>
                  </a:lnTo>
                  <a:cubicBezTo>
                    <a:pt x="4308" y="4213"/>
                    <a:pt x="4213" y="4339"/>
                    <a:pt x="4054" y="4339"/>
                  </a:cubicBezTo>
                  <a:lnTo>
                    <a:pt x="602" y="4339"/>
                  </a:lnTo>
                  <a:cubicBezTo>
                    <a:pt x="444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44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1" y="286"/>
                    <a:pt x="1" y="602"/>
                  </a:cubicBezTo>
                  <a:lnTo>
                    <a:pt x="1" y="4086"/>
                  </a:lnTo>
                  <a:cubicBezTo>
                    <a:pt x="1" y="4403"/>
                    <a:pt x="254" y="4688"/>
                    <a:pt x="602" y="4688"/>
                  </a:cubicBezTo>
                  <a:lnTo>
                    <a:pt x="4054" y="4688"/>
                  </a:lnTo>
                  <a:cubicBezTo>
                    <a:pt x="4403" y="4688"/>
                    <a:pt x="4656" y="4403"/>
                    <a:pt x="4656" y="4086"/>
                  </a:cubicBezTo>
                  <a:lnTo>
                    <a:pt x="4656" y="602"/>
                  </a:lnTo>
                  <a:cubicBezTo>
                    <a:pt x="4656" y="286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6647850" y="3817598"/>
              <a:ext cx="124865" cy="124865"/>
            </a:xfrm>
            <a:custGeom>
              <a:rect b="b" l="l" r="r" t="t"/>
              <a:pathLst>
                <a:path extrusionOk="0" h="4688" w="4688">
                  <a:moveTo>
                    <a:pt x="4086" y="381"/>
                  </a:moveTo>
                  <a:cubicBezTo>
                    <a:pt x="4212" y="381"/>
                    <a:pt x="4307" y="476"/>
                    <a:pt x="4307" y="602"/>
                  </a:cubicBezTo>
                  <a:lnTo>
                    <a:pt x="4307" y="4086"/>
                  </a:lnTo>
                  <a:cubicBezTo>
                    <a:pt x="4307" y="4213"/>
                    <a:pt x="4212" y="4339"/>
                    <a:pt x="4086" y="4339"/>
                  </a:cubicBezTo>
                  <a:lnTo>
                    <a:pt x="602" y="4339"/>
                  </a:lnTo>
                  <a:cubicBezTo>
                    <a:pt x="475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75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0" y="286"/>
                    <a:pt x="0" y="602"/>
                  </a:cubicBezTo>
                  <a:lnTo>
                    <a:pt x="0" y="4086"/>
                  </a:lnTo>
                  <a:cubicBezTo>
                    <a:pt x="0" y="4403"/>
                    <a:pt x="254" y="4688"/>
                    <a:pt x="602" y="4688"/>
                  </a:cubicBezTo>
                  <a:lnTo>
                    <a:pt x="4086" y="4688"/>
                  </a:lnTo>
                  <a:cubicBezTo>
                    <a:pt x="4402" y="4688"/>
                    <a:pt x="4687" y="4403"/>
                    <a:pt x="4687" y="4086"/>
                  </a:cubicBezTo>
                  <a:lnTo>
                    <a:pt x="4687" y="602"/>
                  </a:lnTo>
                  <a:cubicBezTo>
                    <a:pt x="4687" y="286"/>
                    <a:pt x="4402" y="1"/>
                    <a:pt x="4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6504447" y="3961827"/>
              <a:ext cx="124013" cy="124039"/>
            </a:xfrm>
            <a:custGeom>
              <a:rect b="b" l="l" r="r" t="t"/>
              <a:pathLst>
                <a:path extrusionOk="0" h="4657" w="4656">
                  <a:moveTo>
                    <a:pt x="4054" y="349"/>
                  </a:moveTo>
                  <a:cubicBezTo>
                    <a:pt x="4213" y="349"/>
                    <a:pt x="4308" y="444"/>
                    <a:pt x="4308" y="603"/>
                  </a:cubicBezTo>
                  <a:lnTo>
                    <a:pt x="4308" y="4055"/>
                  </a:lnTo>
                  <a:cubicBezTo>
                    <a:pt x="4308" y="4213"/>
                    <a:pt x="4213" y="4308"/>
                    <a:pt x="4054" y="4308"/>
                  </a:cubicBezTo>
                  <a:lnTo>
                    <a:pt x="602" y="4308"/>
                  </a:lnTo>
                  <a:cubicBezTo>
                    <a:pt x="444" y="4308"/>
                    <a:pt x="349" y="4213"/>
                    <a:pt x="349" y="4055"/>
                  </a:cubicBezTo>
                  <a:lnTo>
                    <a:pt x="349" y="603"/>
                  </a:lnTo>
                  <a:cubicBezTo>
                    <a:pt x="349" y="476"/>
                    <a:pt x="444" y="349"/>
                    <a:pt x="602" y="349"/>
                  </a:cubicBezTo>
                  <a:close/>
                  <a:moveTo>
                    <a:pt x="602" y="1"/>
                  </a:moveTo>
                  <a:cubicBezTo>
                    <a:pt x="254" y="1"/>
                    <a:pt x="1" y="254"/>
                    <a:pt x="1" y="603"/>
                  </a:cubicBezTo>
                  <a:lnTo>
                    <a:pt x="1" y="4055"/>
                  </a:lnTo>
                  <a:cubicBezTo>
                    <a:pt x="1" y="4403"/>
                    <a:pt x="254" y="4656"/>
                    <a:pt x="602" y="4656"/>
                  </a:cubicBezTo>
                  <a:lnTo>
                    <a:pt x="4054" y="4656"/>
                  </a:lnTo>
                  <a:cubicBezTo>
                    <a:pt x="4403" y="4656"/>
                    <a:pt x="4656" y="4403"/>
                    <a:pt x="4656" y="4055"/>
                  </a:cubicBezTo>
                  <a:lnTo>
                    <a:pt x="4656" y="603"/>
                  </a:lnTo>
                  <a:cubicBezTo>
                    <a:pt x="4656" y="254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6647850" y="3961827"/>
              <a:ext cx="124865" cy="124039"/>
            </a:xfrm>
            <a:custGeom>
              <a:rect b="b" l="l" r="r" t="t"/>
              <a:pathLst>
                <a:path extrusionOk="0" h="4657" w="4688">
                  <a:moveTo>
                    <a:pt x="2344" y="1"/>
                  </a:moveTo>
                  <a:cubicBezTo>
                    <a:pt x="2249" y="1"/>
                    <a:pt x="2154" y="64"/>
                    <a:pt x="2154" y="159"/>
                  </a:cubicBezTo>
                  <a:lnTo>
                    <a:pt x="2154" y="2154"/>
                  </a:lnTo>
                  <a:lnTo>
                    <a:pt x="190" y="2154"/>
                  </a:lnTo>
                  <a:cubicBezTo>
                    <a:pt x="64" y="2154"/>
                    <a:pt x="0" y="2218"/>
                    <a:pt x="0" y="2344"/>
                  </a:cubicBezTo>
                  <a:cubicBezTo>
                    <a:pt x="0" y="2439"/>
                    <a:pt x="64" y="2503"/>
                    <a:pt x="190" y="2503"/>
                  </a:cubicBezTo>
                  <a:lnTo>
                    <a:pt x="2154" y="2503"/>
                  </a:lnTo>
                  <a:lnTo>
                    <a:pt x="2154" y="4498"/>
                  </a:lnTo>
                  <a:cubicBezTo>
                    <a:pt x="2154" y="4593"/>
                    <a:pt x="2249" y="4656"/>
                    <a:pt x="2344" y="4656"/>
                  </a:cubicBezTo>
                  <a:cubicBezTo>
                    <a:pt x="2439" y="4656"/>
                    <a:pt x="2502" y="4593"/>
                    <a:pt x="2502" y="4498"/>
                  </a:cubicBezTo>
                  <a:lnTo>
                    <a:pt x="2502" y="2503"/>
                  </a:lnTo>
                  <a:lnTo>
                    <a:pt x="4497" y="2503"/>
                  </a:lnTo>
                  <a:cubicBezTo>
                    <a:pt x="4592" y="2503"/>
                    <a:pt x="4687" y="2439"/>
                    <a:pt x="4687" y="2344"/>
                  </a:cubicBezTo>
                  <a:cubicBezTo>
                    <a:pt x="4687" y="2218"/>
                    <a:pt x="4592" y="2154"/>
                    <a:pt x="4497" y="2154"/>
                  </a:cubicBezTo>
                  <a:lnTo>
                    <a:pt x="2502" y="2154"/>
                  </a:lnTo>
                  <a:lnTo>
                    <a:pt x="2502" y="159"/>
                  </a:lnTo>
                  <a:cubicBezTo>
                    <a:pt x="2502" y="64"/>
                    <a:pt x="2439" y="1"/>
                    <a:pt x="23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6533133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4"/>
                    <a:pt x="0" y="666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6323089" y="37222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0"/>
                  </a:moveTo>
                  <a:cubicBezTo>
                    <a:pt x="1458" y="2154"/>
                    <a:pt x="1" y="5225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4"/>
          <p:cNvGrpSpPr/>
          <p:nvPr/>
        </p:nvGrpSpPr>
        <p:grpSpPr>
          <a:xfrm>
            <a:off x="8433714" y="2499219"/>
            <a:ext cx="630131" cy="630104"/>
            <a:chOff x="6323089" y="2499219"/>
            <a:chExt cx="630131" cy="630104"/>
          </a:xfrm>
        </p:grpSpPr>
        <p:sp>
          <p:nvSpPr>
            <p:cNvPr id="203" name="Google Shape;203;p4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4"/>
          <p:cNvGrpSpPr/>
          <p:nvPr/>
        </p:nvGrpSpPr>
        <p:grpSpPr>
          <a:xfrm>
            <a:off x="142151" y="1361318"/>
            <a:ext cx="630104" cy="630131"/>
            <a:chOff x="2190776" y="1361318"/>
            <a:chExt cx="630104" cy="630131"/>
          </a:xfrm>
        </p:grpSpPr>
        <p:sp>
          <p:nvSpPr>
            <p:cNvPr id="209" name="Google Shape;209;p4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4"/>
          <p:cNvGrpSpPr/>
          <p:nvPr/>
        </p:nvGrpSpPr>
        <p:grpSpPr>
          <a:xfrm>
            <a:off x="142151" y="3637093"/>
            <a:ext cx="630104" cy="630130"/>
            <a:chOff x="2190776" y="3637093"/>
            <a:chExt cx="630104" cy="630130"/>
          </a:xfrm>
        </p:grpSpPr>
        <p:sp>
          <p:nvSpPr>
            <p:cNvPr id="217" name="Google Shape;217;p4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4"/>
          <p:cNvGrpSpPr/>
          <p:nvPr/>
        </p:nvGrpSpPr>
        <p:grpSpPr>
          <a:xfrm>
            <a:off x="142151" y="2499219"/>
            <a:ext cx="630104" cy="630104"/>
            <a:chOff x="2190776" y="2499219"/>
            <a:chExt cx="630104" cy="630104"/>
          </a:xfrm>
        </p:grpSpPr>
        <p:sp>
          <p:nvSpPr>
            <p:cNvPr id="222" name="Google Shape;222;p4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4"/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8" name="Google Shape;228;p4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4"/>
          <p:cNvSpPr txBox="1"/>
          <p:nvPr/>
        </p:nvSpPr>
        <p:spPr>
          <a:xfrm>
            <a:off x="6419800" y="1305500"/>
            <a:ext cx="19614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Работа с клиентами</a:t>
            </a:r>
            <a:endParaRPr b="0" i="0" sz="13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"/>
          <p:cNvSpPr txBox="1"/>
          <p:nvPr/>
        </p:nvSpPr>
        <p:spPr>
          <a:xfrm>
            <a:off x="801500" y="1361450"/>
            <a:ext cx="24849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Исследование и анализ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"/>
          <p:cNvSpPr txBox="1"/>
          <p:nvPr/>
        </p:nvSpPr>
        <p:spPr>
          <a:xfrm>
            <a:off x="300225" y="1267625"/>
            <a:ext cx="36063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DD915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Техническое мышление</a:t>
            </a:r>
            <a:endParaRPr b="0" i="0" sz="1600" u="none" cap="none" strike="noStrike">
              <a:solidFill>
                <a:srgbClr val="DD915E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163875" y="2238200"/>
            <a:ext cx="29472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A3F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Системное мышление</a:t>
            </a:r>
            <a:endParaRPr b="0" i="0" sz="1600" u="none" cap="none" strike="noStrike">
              <a:solidFill>
                <a:srgbClr val="2A3F5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710250" y="3974800"/>
            <a:ext cx="2674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060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Любознательность</a:t>
            </a:r>
            <a:endParaRPr b="0" i="0" sz="1600" u="none" cap="none" strike="noStrike">
              <a:solidFill>
                <a:srgbClr val="60606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710250" y="390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Необходимые навыки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5807400" y="1324450"/>
            <a:ext cx="33366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Стремление к        совершенствованию</a:t>
            </a:r>
            <a:endParaRPr b="0" i="0" sz="1600" u="none" cap="none" strike="noStrike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6327625" y="2306850"/>
            <a:ext cx="2674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060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Стрессоустойчивость</a:t>
            </a:r>
            <a:endParaRPr b="0" i="0" sz="1600" u="none" cap="none" strike="noStrike">
              <a:solidFill>
                <a:srgbClr val="60606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5961475" y="3925150"/>
            <a:ext cx="26745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63C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Творческий подход</a:t>
            </a:r>
            <a:endParaRPr b="0" i="0" sz="1600" u="none" cap="none" strike="noStrike">
              <a:solidFill>
                <a:srgbClr val="263C4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37" name="Google Shape;337;p8" title="Без названия74_20251024212335.png"/>
          <p:cNvPicPr preferRelativeResize="0"/>
          <p:nvPr/>
        </p:nvPicPr>
        <p:blipFill rotWithShape="1">
          <a:blip r:embed="rId3">
            <a:alphaModFix/>
          </a:blip>
          <a:srcRect b="18445" l="6728" r="9061" t="4310"/>
          <a:stretch/>
        </p:blipFill>
        <p:spPr>
          <a:xfrm>
            <a:off x="3992173" y="2373063"/>
            <a:ext cx="1173926" cy="143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8"/>
          <p:cNvGrpSpPr/>
          <p:nvPr/>
        </p:nvGrpSpPr>
        <p:grpSpPr>
          <a:xfrm>
            <a:off x="2830653" y="1307905"/>
            <a:ext cx="3496980" cy="3209390"/>
            <a:chOff x="2205550" y="1416550"/>
            <a:chExt cx="3190675" cy="2855075"/>
          </a:xfrm>
        </p:grpSpPr>
        <p:sp>
          <p:nvSpPr>
            <p:cNvPr id="339" name="Google Shape;339;p8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5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362" name="Google Shape;362;p5"/>
            <p:cNvSpPr/>
            <p:nvPr/>
          </p:nvSpPr>
          <p:spPr>
            <a:xfrm>
              <a:off x="3743875" y="2501600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4059775" y="2621950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3771600" y="27620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4631400" y="2534050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95975" y="2017050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3178575" y="2137375"/>
              <a:ext cx="386400" cy="341300"/>
            </a:xfrm>
            <a:custGeom>
              <a:rect b="b" l="l" r="r" t="t"/>
              <a:pathLst>
                <a:path extrusionOk="0" h="13652" w="15456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3769225" y="22775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627650" y="2049525"/>
              <a:ext cx="2342725" cy="517025"/>
            </a:xfrm>
            <a:custGeom>
              <a:rect b="b" l="l" r="r" t="t"/>
              <a:pathLst>
                <a:path extrusionOk="0" h="20681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3365425" y="2215000"/>
              <a:ext cx="8750" cy="9525"/>
            </a:xfrm>
            <a:custGeom>
              <a:rect b="b" l="l" r="r" t="t"/>
              <a:pathLst>
                <a:path extrusionOk="0" h="381" w="35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3427200" y="2240925"/>
              <a:ext cx="9525" cy="9325"/>
            </a:xfrm>
            <a:custGeom>
              <a:rect b="b" l="l" r="r" t="t"/>
              <a:pathLst>
                <a:path extrusionOk="0" h="373" w="381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3453325" y="2302875"/>
              <a:ext cx="8725" cy="9525"/>
            </a:xfrm>
            <a:custGeom>
              <a:rect b="b" l="l" r="r" t="t"/>
              <a:pathLst>
                <a:path extrusionOk="0" h="381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3427200" y="236542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3365425" y="2391550"/>
              <a:ext cx="8750" cy="8725"/>
            </a:xfrm>
            <a:custGeom>
              <a:rect b="b" l="l" r="r" t="t"/>
              <a:pathLst>
                <a:path extrusionOk="0" h="349" w="35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3302100" y="2365825"/>
              <a:ext cx="10300" cy="8725"/>
            </a:xfrm>
            <a:custGeom>
              <a:rect b="b" l="l" r="r" t="t"/>
              <a:pathLst>
                <a:path extrusionOk="0" h="349" w="412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3276750" y="230367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3302875" y="224112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fill="none" h="8995" w="8995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fill="none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5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5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5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5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5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5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5"/>
            <p:cNvSpPr/>
            <p:nvPr/>
          </p:nvSpPr>
          <p:spPr>
            <a:xfrm>
              <a:off x="3453325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5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5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5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5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5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5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5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5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5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5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5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5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fill="none" h="413" w="12000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5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5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5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5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5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5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5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5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5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5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5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5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5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5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5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5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5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5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5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5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5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5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5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5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5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5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5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5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5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5"/>
            <p:cNvSpPr/>
            <p:nvPr/>
          </p:nvSpPr>
          <p:spPr>
            <a:xfrm>
              <a:off x="3276750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5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5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5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5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5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5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5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5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5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5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5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5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5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5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5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5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5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5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5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5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5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5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5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5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5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5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5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5"/>
            <p:cNvSpPr/>
            <p:nvPr/>
          </p:nvSpPr>
          <p:spPr>
            <a:xfrm>
              <a:off x="3743875" y="1532525"/>
              <a:ext cx="3261950" cy="581150"/>
            </a:xfrm>
            <a:custGeom>
              <a:rect b="b" l="l" r="r" t="t"/>
              <a:pathLst>
                <a:path extrusionOk="0" h="23246" w="130478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5"/>
            <p:cNvSpPr/>
            <p:nvPr/>
          </p:nvSpPr>
          <p:spPr>
            <a:xfrm>
              <a:off x="4059775" y="1652875"/>
              <a:ext cx="340475" cy="340450"/>
            </a:xfrm>
            <a:custGeom>
              <a:rect b="b" l="l" r="r" t="t"/>
              <a:pathLst>
                <a:path extrusionOk="0" h="13618" w="13619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5"/>
            <p:cNvSpPr/>
            <p:nvPr/>
          </p:nvSpPr>
          <p:spPr>
            <a:xfrm>
              <a:off x="3771600" y="17930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5"/>
            <p:cNvSpPr/>
            <p:nvPr/>
          </p:nvSpPr>
          <p:spPr>
            <a:xfrm>
              <a:off x="4631400" y="1564200"/>
              <a:ext cx="2341950" cy="517800"/>
            </a:xfrm>
            <a:custGeom>
              <a:rect b="b" l="l" r="r" t="t"/>
              <a:pathLst>
                <a:path extrusionOk="0" h="20712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5"/>
            <p:cNvSpPr/>
            <p:nvPr/>
          </p:nvSpPr>
          <p:spPr>
            <a:xfrm>
              <a:off x="4136575" y="1720175"/>
              <a:ext cx="186075" cy="205875"/>
            </a:xfrm>
            <a:custGeom>
              <a:rect b="b" l="l" r="r" t="t"/>
              <a:pathLst>
                <a:path extrusionOk="0" h="8235" w="7443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5"/>
            <p:cNvSpPr/>
            <p:nvPr/>
          </p:nvSpPr>
          <p:spPr>
            <a:xfrm>
              <a:off x="4199125" y="1760425"/>
              <a:ext cx="60975" cy="111775"/>
            </a:xfrm>
            <a:custGeom>
              <a:rect b="b" l="l" r="r" t="t"/>
              <a:pathLst>
                <a:path extrusionOk="0" h="4471" w="2439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"/>
            <p:cNvSpPr/>
            <p:nvPr/>
          </p:nvSpPr>
          <p:spPr>
            <a:xfrm>
              <a:off x="595975" y="2986125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5"/>
            <p:cNvSpPr/>
            <p:nvPr/>
          </p:nvSpPr>
          <p:spPr>
            <a:xfrm>
              <a:off x="3201550" y="3106475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5"/>
            <p:cNvSpPr/>
            <p:nvPr/>
          </p:nvSpPr>
          <p:spPr>
            <a:xfrm>
              <a:off x="3769225" y="32466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5"/>
            <p:cNvSpPr/>
            <p:nvPr/>
          </p:nvSpPr>
          <p:spPr>
            <a:xfrm>
              <a:off x="627650" y="3018600"/>
              <a:ext cx="2342725" cy="517000"/>
            </a:xfrm>
            <a:custGeom>
              <a:rect b="b" l="l" r="r" t="t"/>
              <a:pathLst>
                <a:path extrusionOk="0" h="20680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"/>
            <p:cNvSpPr/>
            <p:nvPr/>
          </p:nvSpPr>
          <p:spPr>
            <a:xfrm>
              <a:off x="3298925" y="3161100"/>
              <a:ext cx="146500" cy="232800"/>
            </a:xfrm>
            <a:custGeom>
              <a:rect b="b" l="l" r="r" t="t"/>
              <a:pathLst>
                <a:path extrusionOk="0" h="9312" w="586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5"/>
            <p:cNvSpPr/>
            <p:nvPr/>
          </p:nvSpPr>
          <p:spPr>
            <a:xfrm>
              <a:off x="3346425" y="3280650"/>
              <a:ext cx="51500" cy="78400"/>
            </a:xfrm>
            <a:custGeom>
              <a:rect b="b" l="l" r="r" t="t"/>
              <a:pathLst>
                <a:path extrusionOk="0" h="3136" w="206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952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5"/>
            <p:cNvSpPr/>
            <p:nvPr/>
          </p:nvSpPr>
          <p:spPr>
            <a:xfrm>
              <a:off x="3743875" y="3470675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5"/>
            <p:cNvSpPr/>
            <p:nvPr/>
          </p:nvSpPr>
          <p:spPr>
            <a:xfrm>
              <a:off x="4059775" y="3591000"/>
              <a:ext cx="340475" cy="341275"/>
            </a:xfrm>
            <a:custGeom>
              <a:rect b="b" l="l" r="r" t="t"/>
              <a:pathLst>
                <a:path extrusionOk="0" h="13651" w="13619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5"/>
            <p:cNvSpPr/>
            <p:nvPr/>
          </p:nvSpPr>
          <p:spPr>
            <a:xfrm>
              <a:off x="3771600" y="37311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5"/>
            <p:cNvSpPr/>
            <p:nvPr/>
          </p:nvSpPr>
          <p:spPr>
            <a:xfrm>
              <a:off x="4631400" y="3503125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5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5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5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5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5"/>
            <p:cNvSpPr/>
            <p:nvPr/>
          </p:nvSpPr>
          <p:spPr>
            <a:xfrm>
              <a:off x="4269575" y="3690700"/>
              <a:ext cx="30125" cy="105375"/>
            </a:xfrm>
            <a:custGeom>
              <a:rect b="b" l="l" r="r" t="t"/>
              <a:pathLst>
                <a:path extrusionOk="0" h="4215" w="1205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"/>
            <p:cNvSpPr/>
            <p:nvPr/>
          </p:nvSpPr>
          <p:spPr>
            <a:xfrm>
              <a:off x="4287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5"/>
            <p:cNvSpPr/>
            <p:nvPr/>
          </p:nvSpPr>
          <p:spPr>
            <a:xfrm>
              <a:off x="4160325" y="3690700"/>
              <a:ext cx="29325" cy="105375"/>
            </a:xfrm>
            <a:custGeom>
              <a:rect b="b" l="l" r="r" t="t"/>
              <a:pathLst>
                <a:path extrusionOk="0" h="4215" w="1173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5"/>
            <p:cNvSpPr/>
            <p:nvPr/>
          </p:nvSpPr>
          <p:spPr>
            <a:xfrm>
              <a:off x="4135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5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fill="none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5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5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fill="none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5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fill="none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5"/>
            <p:cNvSpPr/>
            <p:nvPr/>
          </p:nvSpPr>
          <p:spPr>
            <a:xfrm>
              <a:off x="595975" y="3956000"/>
              <a:ext cx="3262725" cy="581150"/>
            </a:xfrm>
            <a:custGeom>
              <a:rect b="b" l="l" r="r" t="t"/>
              <a:pathLst>
                <a:path extrusionOk="0" h="23246" w="130509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"/>
            <p:cNvSpPr/>
            <p:nvPr/>
          </p:nvSpPr>
          <p:spPr>
            <a:xfrm>
              <a:off x="3201550" y="4076325"/>
              <a:ext cx="340475" cy="340475"/>
            </a:xfrm>
            <a:custGeom>
              <a:rect b="b" l="l" r="r" t="t"/>
              <a:pathLst>
                <a:path extrusionOk="0" h="13619" w="13619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5"/>
            <p:cNvSpPr/>
            <p:nvPr/>
          </p:nvSpPr>
          <p:spPr>
            <a:xfrm>
              <a:off x="3769225" y="42156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5"/>
            <p:cNvSpPr/>
            <p:nvPr/>
          </p:nvSpPr>
          <p:spPr>
            <a:xfrm>
              <a:off x="627650" y="3987650"/>
              <a:ext cx="2342725" cy="517825"/>
            </a:xfrm>
            <a:custGeom>
              <a:rect b="b" l="l" r="r" t="t"/>
              <a:pathLst>
                <a:path extrusionOk="0" h="20713" w="93709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"/>
            <p:cNvSpPr/>
            <p:nvPr/>
          </p:nvSpPr>
          <p:spPr>
            <a:xfrm>
              <a:off x="3332975" y="4198250"/>
              <a:ext cx="77600" cy="77625"/>
            </a:xfrm>
            <a:custGeom>
              <a:rect b="b" l="l" r="r" t="t"/>
              <a:pathLst>
                <a:path extrusionOk="0" h="3105" w="3104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5"/>
            <p:cNvSpPr/>
            <p:nvPr/>
          </p:nvSpPr>
          <p:spPr>
            <a:xfrm>
              <a:off x="3259350" y="4134125"/>
              <a:ext cx="225650" cy="224875"/>
            </a:xfrm>
            <a:custGeom>
              <a:rect b="b" l="l" r="r" t="t"/>
              <a:pathLst>
                <a:path extrusionOk="0" h="8995" w="9026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"/>
            <p:cNvSpPr/>
            <p:nvPr/>
          </p:nvSpPr>
          <p:spPr>
            <a:xfrm>
              <a:off x="4113625" y="2679450"/>
              <a:ext cx="232775" cy="225950"/>
            </a:xfrm>
            <a:custGeom>
              <a:rect b="b" l="l" r="r" t="t"/>
              <a:pathLst>
                <a:path extrusionOk="0" h="9038" w="9311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5"/>
            <p:cNvSpPr/>
            <p:nvPr/>
          </p:nvSpPr>
          <p:spPr>
            <a:xfrm>
              <a:off x="4113625" y="2675775"/>
              <a:ext cx="232775" cy="229625"/>
            </a:xfrm>
            <a:custGeom>
              <a:rect b="b" l="l" r="r" t="t"/>
              <a:pathLst>
                <a:path extrusionOk="0" fill="none" h="9185" w="9311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8" name="Google Shape;1388;p5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33333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Специализации</a:t>
            </a:r>
            <a:r>
              <a:rPr b="0" i="0" lang="en" sz="2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89" name="Google Shape;1389;p5"/>
          <p:cNvSpPr txBox="1"/>
          <p:nvPr/>
        </p:nvSpPr>
        <p:spPr>
          <a:xfrm>
            <a:off x="457200" y="1610941"/>
            <a:ext cx="31848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Подземная и наземная  добыча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0" name="Google Shape;1390;p5"/>
          <p:cNvSpPr txBox="1"/>
          <p:nvPr/>
        </p:nvSpPr>
        <p:spPr>
          <a:xfrm>
            <a:off x="566249" y="2851768"/>
            <a:ext cx="2926345" cy="723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Машиностроение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1" name="Google Shape;1391;p5"/>
          <p:cNvSpPr txBox="1"/>
          <p:nvPr/>
        </p:nvSpPr>
        <p:spPr>
          <a:xfrm>
            <a:off x="457200" y="3044232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92" name="Google Shape;1392;p5"/>
          <p:cNvSpPr txBox="1"/>
          <p:nvPr/>
        </p:nvSpPr>
        <p:spPr>
          <a:xfrm>
            <a:off x="605775" y="4107726"/>
            <a:ext cx="2769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93" name="Google Shape;1393;p5"/>
          <p:cNvSpPr txBox="1"/>
          <p:nvPr/>
        </p:nvSpPr>
        <p:spPr>
          <a:xfrm>
            <a:off x="605775" y="3989225"/>
            <a:ext cx="27690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Строительство шахт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4" name="Google Shape;1394;p5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95" name="Google Shape;1395;p5"/>
          <p:cNvSpPr txBox="1"/>
          <p:nvPr/>
        </p:nvSpPr>
        <p:spPr>
          <a:xfrm>
            <a:off x="5776500" y="992153"/>
            <a:ext cx="2769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Строительство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6" name="Google Shape;1396;p5"/>
          <p:cNvSpPr txBox="1"/>
          <p:nvPr/>
        </p:nvSpPr>
        <p:spPr>
          <a:xfrm>
            <a:off x="5744250" y="2155350"/>
            <a:ext cx="2833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Информационные технологии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5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98" name="Google Shape;1398;p5"/>
          <p:cNvSpPr txBox="1"/>
          <p:nvPr/>
        </p:nvSpPr>
        <p:spPr>
          <a:xfrm>
            <a:off x="5776500" y="3475203"/>
            <a:ext cx="27690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Электроника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6" title="546539970055647916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4618" y="2637663"/>
            <a:ext cx="1879370" cy="2505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330" y="3596421"/>
            <a:ext cx="2722987" cy="85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2018" y="3451686"/>
            <a:ext cx="2206157" cy="99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38" y="284621"/>
            <a:ext cx="3792349" cy="166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51936" y="48127"/>
            <a:ext cx="1812682" cy="181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00024" y="1849063"/>
            <a:ext cx="1716505" cy="1716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8676" y="2113469"/>
            <a:ext cx="2954020" cy="130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4499" y="2637500"/>
            <a:ext cx="1879500" cy="25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330" y="3596421"/>
            <a:ext cx="2722987" cy="85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5756" y="3451686"/>
            <a:ext cx="2222419" cy="99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38" y="284621"/>
            <a:ext cx="3792349" cy="166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51936" y="48127"/>
            <a:ext cx="1812682" cy="181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00024" y="1849063"/>
            <a:ext cx="1716505" cy="1716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Google Shape;142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8676" y="2113469"/>
            <a:ext cx="2954020" cy="1308307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7"/>
          <p:cNvSpPr/>
          <p:nvPr/>
        </p:nvSpPr>
        <p:spPr>
          <a:xfrm>
            <a:off x="3692066" y="797522"/>
            <a:ext cx="2361496" cy="1005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Маркшейдер</a:t>
            </a:r>
            <a:endParaRPr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22" name="Google Shape;1422;p7"/>
          <p:cNvSpPr/>
          <p:nvPr/>
        </p:nvSpPr>
        <p:spPr>
          <a:xfrm>
            <a:off x="3312696" y="2224016"/>
            <a:ext cx="2361496" cy="1005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Компас</a:t>
            </a:r>
            <a:endParaRPr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23" name="Google Shape;1423;p7"/>
          <p:cNvSpPr/>
          <p:nvPr/>
        </p:nvSpPr>
        <p:spPr>
          <a:xfrm>
            <a:off x="2854260" y="3521279"/>
            <a:ext cx="2361496" cy="1005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Штангенциркуль</a:t>
            </a:r>
            <a:endParaRPr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9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9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9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9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9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9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9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9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9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9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9"/>
          <p:cNvSpPr/>
          <p:nvPr/>
        </p:nvSpPr>
        <p:spPr>
          <a:xfrm>
            <a:off x="610025" y="1135825"/>
            <a:ext cx="2975381" cy="2603559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33333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 Востребованность</a:t>
            </a:r>
            <a:r>
              <a:rPr b="0" i="0" lang="en" sz="18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800" u="none" cap="none" strike="noStrike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9" name="Google Shape;1439;p9"/>
          <p:cNvSpPr/>
          <p:nvPr/>
        </p:nvSpPr>
        <p:spPr>
          <a:xfrm>
            <a:off x="5156628" y="3968900"/>
            <a:ext cx="2077663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9"/>
          <p:cNvSpPr/>
          <p:nvPr/>
        </p:nvSpPr>
        <p:spPr>
          <a:xfrm>
            <a:off x="5156613" y="3968910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1" name="Google Shape;1441;p9"/>
          <p:cNvSpPr/>
          <p:nvPr/>
        </p:nvSpPr>
        <p:spPr>
          <a:xfrm>
            <a:off x="5156625" y="100350"/>
            <a:ext cx="2292823" cy="971210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9"/>
          <p:cNvSpPr/>
          <p:nvPr/>
        </p:nvSpPr>
        <p:spPr>
          <a:xfrm>
            <a:off x="5156613" y="100348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3" name="Google Shape;1443;p9"/>
          <p:cNvSpPr/>
          <p:nvPr/>
        </p:nvSpPr>
        <p:spPr>
          <a:xfrm>
            <a:off x="5156613" y="2089089"/>
            <a:ext cx="1673162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9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5" name="Google Shape;1445;p9"/>
          <p:cNvSpPr/>
          <p:nvPr/>
        </p:nvSpPr>
        <p:spPr>
          <a:xfrm>
            <a:off x="7018674" y="1249975"/>
            <a:ext cx="1865306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9"/>
          <p:cNvSpPr/>
          <p:nvPr/>
        </p:nvSpPr>
        <p:spPr>
          <a:xfrm>
            <a:off x="7018680" y="1249974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7" name="Google Shape;1447;p9"/>
          <p:cNvSpPr/>
          <p:nvPr/>
        </p:nvSpPr>
        <p:spPr>
          <a:xfrm>
            <a:off x="7018680" y="2927178"/>
            <a:ext cx="1672168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9"/>
          <p:cNvSpPr/>
          <p:nvPr/>
        </p:nvSpPr>
        <p:spPr>
          <a:xfrm>
            <a:off x="7018680" y="2927178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b="0" i="0" sz="3000" u="none" cap="none" strike="noStrike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49" name="Google Shape;1449;p9"/>
          <p:cNvSpPr txBox="1"/>
          <p:nvPr/>
        </p:nvSpPr>
        <p:spPr>
          <a:xfrm>
            <a:off x="7411575" y="1328338"/>
            <a:ext cx="14724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Технический прогресс и инновации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0" name="Google Shape;1450;p9"/>
          <p:cNvSpPr txBox="1"/>
          <p:nvPr/>
        </p:nvSpPr>
        <p:spPr>
          <a:xfrm>
            <a:off x="5556925" y="2130200"/>
            <a:ext cx="13032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Оборонная отрасль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1" name="Google Shape;1451;p9"/>
          <p:cNvSpPr txBox="1"/>
          <p:nvPr/>
        </p:nvSpPr>
        <p:spPr>
          <a:xfrm>
            <a:off x="5535875" y="4012550"/>
            <a:ext cx="19683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Освоение новых месторождений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2" name="Google Shape;1452;p9"/>
          <p:cNvSpPr txBox="1"/>
          <p:nvPr/>
        </p:nvSpPr>
        <p:spPr>
          <a:xfrm>
            <a:off x="7449450" y="2997800"/>
            <a:ext cx="13401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Энергетика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3" name="Google Shape;1453;p9"/>
          <p:cNvSpPr txBox="1"/>
          <p:nvPr/>
        </p:nvSpPr>
        <p:spPr>
          <a:xfrm>
            <a:off x="5558525" y="205225"/>
            <a:ext cx="19230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400" u="none" cap="none" strike="noStrike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Развитие        промышленности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Отрасли работы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59" name="Google Shape;1459;p10"/>
          <p:cNvSpPr txBox="1"/>
          <p:nvPr/>
        </p:nvSpPr>
        <p:spPr>
          <a:xfrm>
            <a:off x="151550" y="1013925"/>
            <a:ext cx="3700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0606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Промышленные предприятия</a:t>
            </a:r>
            <a:endParaRPr b="0" i="0" sz="2000" u="none" cap="none" strike="noStrike">
              <a:solidFill>
                <a:srgbClr val="60606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0" name="Google Shape;1460;p10"/>
          <p:cNvSpPr txBox="1"/>
          <p:nvPr/>
        </p:nvSpPr>
        <p:spPr>
          <a:xfrm>
            <a:off x="457200" y="2344500"/>
            <a:ext cx="22035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63C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Геологоразведка</a:t>
            </a:r>
            <a:endParaRPr b="0" i="0" sz="1600" u="none" cap="none" strike="noStrike">
              <a:solidFill>
                <a:srgbClr val="263C4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1" name="Google Shape;1461;p10"/>
          <p:cNvSpPr txBox="1"/>
          <p:nvPr/>
        </p:nvSpPr>
        <p:spPr>
          <a:xfrm>
            <a:off x="231950" y="4131975"/>
            <a:ext cx="3540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A66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Обогащение и переработка полезных ископаемых</a:t>
            </a:r>
            <a:endParaRPr b="0" i="0" sz="1600" u="none" cap="none" strike="noStrike">
              <a:solidFill>
                <a:srgbClr val="FFA66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2" name="Google Shape;1462;p10"/>
          <p:cNvSpPr txBox="1"/>
          <p:nvPr/>
        </p:nvSpPr>
        <p:spPr>
          <a:xfrm>
            <a:off x="6045025" y="990750"/>
            <a:ext cx="24555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63C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Горнодобывающая промышленность</a:t>
            </a:r>
            <a:endParaRPr b="0" i="0" sz="1600" u="none" cap="none" strike="noStrike">
              <a:solidFill>
                <a:srgbClr val="263C4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3" name="Google Shape;1463;p10"/>
          <p:cNvSpPr txBox="1"/>
          <p:nvPr/>
        </p:nvSpPr>
        <p:spPr>
          <a:xfrm>
            <a:off x="6579475" y="2556425"/>
            <a:ext cx="24555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Экологический контроль</a:t>
            </a:r>
            <a:endParaRPr b="0" i="0" sz="1600" u="none" cap="none" strike="noStrike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4" name="Google Shape;1464;p10"/>
          <p:cNvSpPr txBox="1"/>
          <p:nvPr/>
        </p:nvSpPr>
        <p:spPr>
          <a:xfrm>
            <a:off x="6045025" y="4178025"/>
            <a:ext cx="33321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263C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Нефтегазовая</a:t>
            </a:r>
            <a:endParaRPr b="0" i="0" sz="1600" u="none" cap="none" strike="noStrike">
              <a:solidFill>
                <a:srgbClr val="263C4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65" name="Google Shape;1465;p10" title="Без названия75_20251024212556.png"/>
          <p:cNvPicPr preferRelativeResize="0"/>
          <p:nvPr/>
        </p:nvPicPr>
        <p:blipFill rotWithShape="1">
          <a:blip r:embed="rId3">
            <a:alphaModFix/>
          </a:blip>
          <a:srcRect b="18319" l="5687" r="7476" t="4513"/>
          <a:stretch/>
        </p:blipFill>
        <p:spPr>
          <a:xfrm>
            <a:off x="3823087" y="2105950"/>
            <a:ext cx="1497827" cy="177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6" name="Google Shape;1466;p10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467" name="Google Shape;1467;p10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68" name="Google Shape;1468;p10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69" name="Google Shape;1469;p10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0" name="Google Shape;1470;p10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1" name="Google Shape;1471;p10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2" name="Google Shape;1472;p10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3" name="Google Shape;1473;p10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0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1"/>
          <p:cNvSpPr txBox="1"/>
          <p:nvPr/>
        </p:nvSpPr>
        <p:spPr>
          <a:xfrm>
            <a:off x="2987235" y="411475"/>
            <a:ext cx="31491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Образование</a:t>
            </a:r>
            <a:endParaRPr b="0" i="0" sz="2500" u="none" cap="none" strike="noStrike">
              <a:solidFill>
                <a:srgbClr val="000000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1480" name="Google Shape;1480;p11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1481" name="Google Shape;1481;p11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1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1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1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1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1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1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1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1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1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1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1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1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1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1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1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1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1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1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1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1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1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1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1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1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1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1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1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1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1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1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1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1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1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1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1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1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1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1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1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1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1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1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1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1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1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1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1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1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1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1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1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1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1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1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1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1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1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1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7" name="Google Shape;1547;p11"/>
          <p:cNvSpPr txBox="1"/>
          <p:nvPr/>
        </p:nvSpPr>
        <p:spPr>
          <a:xfrm>
            <a:off x="-19050" y="1431925"/>
            <a:ext cx="23214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Межрегиональная Академия промышленного и строительного комплекса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МАСПК)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8" name="Google Shape;1548;p11"/>
          <p:cNvSpPr txBox="1"/>
          <p:nvPr/>
        </p:nvSpPr>
        <p:spPr>
          <a:xfrm>
            <a:off x="6711900" y="1431925"/>
            <a:ext cx="2432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Учебный центр 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НЦПО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9" name="Google Shape;1549;p11"/>
          <p:cNvSpPr txBox="1"/>
          <p:nvPr/>
        </p:nvSpPr>
        <p:spPr>
          <a:xfrm>
            <a:off x="130000" y="2561900"/>
            <a:ext cx="219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университет “УГМК”</a:t>
            </a:r>
            <a:endParaRPr b="0" i="0" sz="1200" u="none" cap="none" strike="noStrike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0" name="Google Shape;1550;p11"/>
          <p:cNvSpPr txBox="1"/>
          <p:nvPr/>
        </p:nvSpPr>
        <p:spPr>
          <a:xfrm>
            <a:off x="0" y="3492425"/>
            <a:ext cx="228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горный университет</a:t>
            </a:r>
            <a:endParaRPr b="0" i="0" sz="1200" u="none" cap="none" strike="noStrike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(УГГУ)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1" name="Google Shape;1551;p11"/>
          <p:cNvSpPr txBox="1"/>
          <p:nvPr/>
        </p:nvSpPr>
        <p:spPr>
          <a:xfrm>
            <a:off x="6711900" y="2530350"/>
            <a:ext cx="243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Академия профессиональной подготовки кадров (АПрофПК)</a:t>
            </a:r>
            <a:endParaRPr b="0" i="0" sz="18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latin typeface="Dela Gothic One"/>
                <a:ea typeface="Dela Gothic One"/>
                <a:cs typeface="Dela Gothic One"/>
                <a:sym typeface="Dela Gothic One"/>
              </a:rPr>
              <a:t>Практика</a:t>
            </a:r>
            <a:endParaRPr sz="2500"/>
          </a:p>
        </p:txBody>
      </p:sp>
      <p:sp>
        <p:nvSpPr>
          <p:cNvPr id="1557" name="Google Shape;1557;p12"/>
          <p:cNvSpPr txBox="1"/>
          <p:nvPr/>
        </p:nvSpPr>
        <p:spPr>
          <a:xfrm>
            <a:off x="460638" y="1096712"/>
            <a:ext cx="6948498" cy="33927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Задание 1: Соотнесите термин и его описание:</a:t>
            </a:r>
            <a:b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а) штрек; б) квершлаг; в) штольня; г) ствол.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1.горизонтальная выработка без выхода на поверхность, проведённая по простиранию пород;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2.вертикальная/наклонная выработка с выходом на поверхность для обслуживания шахты;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3.горизонтальная выработка без выхода на поверхность, проведённая в крест простирания пород;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4.горизонтальная/наклонная выработка с выходом на поверхность.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Задание 2: Рассчитайте объём горной массы, извлечённой из уступа высотой 10 м, длиной 50 м и средней мощностью 3 м.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