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Montserrat"/>
      <p:regular r:id="rId38"/>
      <p:bold r:id="rId39"/>
      <p:italic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Dela Gothic One"/>
      <p:regular r:id="rId46"/>
    </p:embeddedFont>
    <p:embeddedFont>
      <p:font typeface="Fira Sans Medium"/>
      <p:regular r:id="rId47"/>
      <p:bold r:id="rId48"/>
      <p:italic r:id="rId49"/>
      <p:boldItalic r:id="rId50"/>
    </p:embeddedFont>
    <p:embeddedFont>
      <p:font typeface="Fira Sans SemiBold"/>
      <p:regular r:id="rId51"/>
      <p:bold r:id="rId52"/>
      <p:italic r:id="rId53"/>
      <p:boldItalic r:id="rId54"/>
    </p:embeddedFont>
    <p:embeddedFont>
      <p:font typeface="Fira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MontserratMedium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MontserratMedium-italic.fntdata"/><Relationship Id="rId43" Type="http://schemas.openxmlformats.org/officeDocument/2006/relationships/font" Target="fonts/MontserratMedium-bold.fntdata"/><Relationship Id="rId46" Type="http://schemas.openxmlformats.org/officeDocument/2006/relationships/font" Target="fonts/DelaGothicOne-regular.fntdata"/><Relationship Id="rId45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iraSansMedium-bold.fntdata"/><Relationship Id="rId47" Type="http://schemas.openxmlformats.org/officeDocument/2006/relationships/font" Target="fonts/FiraSansMedium-regular.fntdata"/><Relationship Id="rId49" Type="http://schemas.openxmlformats.org/officeDocument/2006/relationships/font" Target="fonts/Fira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raSansSemiBold-regular.fntdata"/><Relationship Id="rId50" Type="http://schemas.openxmlformats.org/officeDocument/2006/relationships/font" Target="fonts/FiraSansMedium-boldItalic.fntdata"/><Relationship Id="rId53" Type="http://schemas.openxmlformats.org/officeDocument/2006/relationships/font" Target="fonts/FiraSansSemiBold-italic.fntdata"/><Relationship Id="rId52" Type="http://schemas.openxmlformats.org/officeDocument/2006/relationships/font" Target="fonts/FiraSansSemiBold-bold.fntdata"/><Relationship Id="rId11" Type="http://schemas.openxmlformats.org/officeDocument/2006/relationships/slide" Target="slides/slide6.xml"/><Relationship Id="rId55" Type="http://schemas.openxmlformats.org/officeDocument/2006/relationships/font" Target="fonts/FiraSans-regular.fntdata"/><Relationship Id="rId10" Type="http://schemas.openxmlformats.org/officeDocument/2006/relationships/slide" Target="slides/slide5.xml"/><Relationship Id="rId54" Type="http://schemas.openxmlformats.org/officeDocument/2006/relationships/font" Target="fonts/FiraSansSemiBold-boldItalic.fntdata"/><Relationship Id="rId13" Type="http://schemas.openxmlformats.org/officeDocument/2006/relationships/slide" Target="slides/slide8.xml"/><Relationship Id="rId57" Type="http://schemas.openxmlformats.org/officeDocument/2006/relationships/font" Target="fonts/FiraSans-italic.fntdata"/><Relationship Id="rId12" Type="http://schemas.openxmlformats.org/officeDocument/2006/relationships/slide" Target="slides/slide7.xml"/><Relationship Id="rId56" Type="http://schemas.openxmlformats.org/officeDocument/2006/relationships/font" Target="fonts/Fira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Fira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46332e65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46332e65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46332e6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46332e6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91ed6c2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91ed6c2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9026751953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9026751953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902675195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902675195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3346ba4b8f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3346ba4b8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346ba4b8f4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346ba4b8f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92929026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92929026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9292902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9292902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929290261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92929026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346332e6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346332e6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346332e65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3346332e65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346332e65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346332e65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346332e6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346332e6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3346332e65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3346332e65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346332e65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3346332e65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346332e65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3346332e65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346332e65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346332e65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346332e65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346332e65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3346332e65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3346332e65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346332e65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3346332e65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346332e65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3346332e65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3346332e65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3346332e65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3346332e65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3346332e65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3346332e65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3346332e65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3346332e65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3346332e65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3346332e65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3346332e65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346332e65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346332e65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346332e65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346332e65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3346332e65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3346332e65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346332e65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3346332e65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4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7200" y="2126125"/>
            <a:ext cx="40644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ela Gothic One"/>
                <a:ea typeface="Dela Gothic One"/>
                <a:cs typeface="Dela Gothic One"/>
                <a:sym typeface="Dela Gothic One"/>
              </a:rPr>
              <a:t>Геодезист</a:t>
            </a:r>
            <a:endParaRPr sz="3600">
              <a:solidFill>
                <a:srgbClr val="00002A"/>
              </a:solidFill>
              <a:highlight>
                <a:srgbClr val="FFFFFF"/>
              </a:highlight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6" name="Google Shape;56;p13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type="title"/>
          </p:nvPr>
        </p:nvSpPr>
        <p:spPr>
          <a:xfrm>
            <a:off x="184909" y="571494"/>
            <a:ext cx="4572000" cy="34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b="1"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Геодезист </a:t>
            </a: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— это специалист в области геодезии, который занимается измерением и определением формы, размеров, положения и взаимного расположения различных объектов на земной поверхности или в пространстве, а также созданием пространственных моделей для различных инженерных, строительных и географических задач.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0750" y="800100"/>
            <a:ext cx="4053452" cy="405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/>
        </p:nvSpPr>
        <p:spPr>
          <a:xfrm>
            <a:off x="220450" y="155450"/>
            <a:ext cx="51942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История профессии</a:t>
            </a:r>
            <a:endParaRPr b="1" sz="25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220450" y="800100"/>
            <a:ext cx="55533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России начало развития геодезии пришлось на начало XI века. В этот период учёные произвели измерение ширины Керченского пролива по льду. Первая карта Московского государства, известная как Большой чертёж, появилась в 1570 году. Однако грандиозные работы по составлению карт были начаты несколько позже, в 1672–1725 годы, при правлении Петра I. Именно в этот период геодезия начала активно развиваться. Так, в 1701 году в Москве появилась школа «математических и навигационных наук» с целью подготовки будущих геодезистов. 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конца XIX века уровень технического оснащения в геодезии резко возрос. Увеличился и престиж занятых в ней специалистов, и относительный уровень оплаты труда. </a:t>
            </a:r>
            <a:endParaRPr sz="16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7" name="Google Shape;1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2600" y="3565300"/>
            <a:ext cx="2084700" cy="140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2800" y="0"/>
            <a:ext cx="2855249" cy="323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/>
        </p:nvSpPr>
        <p:spPr>
          <a:xfrm>
            <a:off x="1087300" y="1333199"/>
            <a:ext cx="2204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Топографическая съемка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2691100" y="2126900"/>
            <a:ext cx="306000" cy="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1160975" y="3445163"/>
            <a:ext cx="2433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Построение и анализ карт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3707425" y="25478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5930268" y="3741741"/>
            <a:ext cx="28377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границ земельных участков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3668582" y="28637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710250" y="135725"/>
            <a:ext cx="77235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Функции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9284450" y="1469700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3641800" y="22220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6015492" y="1093488"/>
            <a:ext cx="2204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Консультации и экспертная оценка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3890950" y="225503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3753594" y="21773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95" name="Google Shape;195;p16"/>
          <p:cNvGrpSpPr/>
          <p:nvPr/>
        </p:nvGrpSpPr>
        <p:grpSpPr>
          <a:xfrm>
            <a:off x="8322742" y="1304206"/>
            <a:ext cx="630131" cy="630104"/>
            <a:chOff x="6323089" y="2499219"/>
            <a:chExt cx="630131" cy="630104"/>
          </a:xfrm>
        </p:grpSpPr>
        <p:sp>
          <p:nvSpPr>
            <p:cNvPr id="196" name="Google Shape;196;p16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457201" y="1361318"/>
            <a:ext cx="630104" cy="630131"/>
            <a:chOff x="2190776" y="1361318"/>
            <a:chExt cx="630104" cy="630131"/>
          </a:xfrm>
        </p:grpSpPr>
        <p:sp>
          <p:nvSpPr>
            <p:cNvPr id="202" name="Google Shape;202;p16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8371738" y="3396493"/>
            <a:ext cx="630104" cy="630131"/>
            <a:chOff x="2190776" y="3637093"/>
            <a:chExt cx="630104" cy="630131"/>
          </a:xfrm>
        </p:grpSpPr>
        <p:sp>
          <p:nvSpPr>
            <p:cNvPr id="210" name="Google Shape;210;p16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457201" y="3396519"/>
            <a:ext cx="630104" cy="630104"/>
            <a:chOff x="2190776" y="2499219"/>
            <a:chExt cx="630104" cy="630104"/>
          </a:xfrm>
        </p:grpSpPr>
        <p:sp>
          <p:nvSpPr>
            <p:cNvPr id="215" name="Google Shape;215;p16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16"/>
          <p:cNvGrpSpPr/>
          <p:nvPr/>
        </p:nvGrpSpPr>
        <p:grpSpPr>
          <a:xfrm>
            <a:off x="2968732" y="1375162"/>
            <a:ext cx="3408752" cy="2878229"/>
            <a:chOff x="2820853" y="1403508"/>
            <a:chExt cx="3502263" cy="2951424"/>
          </a:xfrm>
        </p:grpSpPr>
        <p:sp>
          <p:nvSpPr>
            <p:cNvPr id="221" name="Google Shape;221;p16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/>
        </p:nvSpPr>
        <p:spPr>
          <a:xfrm>
            <a:off x="104800" y="591550"/>
            <a:ext cx="3189000" cy="16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Навыки работы с геодезическим оборудованием</a:t>
            </a:r>
            <a:r>
              <a:rPr lang="en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Важно иметь техническое понимание и умение работать с современным оборудованием.</a:t>
            </a:r>
            <a:endParaRPr sz="1000">
              <a:solidFill>
                <a:srgbClr val="FFA6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-5750" y="3246500"/>
            <a:ext cx="2946900" cy="17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BIM-технологиями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Умение создавать и анализировать 3D-модели для строительных проектов.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717375" y="1103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Необходимые навыки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6198025" y="591550"/>
            <a:ext cx="2778000" cy="17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мышление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Способность быстро анализировать большие объемы данных.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6327625" y="3497325"/>
            <a:ext cx="26484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Внимание к деталям</a:t>
            </a:r>
            <a:r>
              <a:rPr lang="en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07376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Точность и аккуратность в работе.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321" name="Google Shape;321;p17" title="Без названия74_20251024212335.png"/>
          <p:cNvPicPr preferRelativeResize="0"/>
          <p:nvPr/>
        </p:nvPicPr>
        <p:blipFill rotWithShape="1">
          <a:blip r:embed="rId3">
            <a:alphaModFix/>
          </a:blip>
          <a:srcRect b="18445" l="6728" r="9061" t="4310"/>
          <a:stretch/>
        </p:blipFill>
        <p:spPr>
          <a:xfrm>
            <a:off x="3992173" y="2373063"/>
            <a:ext cx="1173926" cy="143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17"/>
          <p:cNvGrpSpPr/>
          <p:nvPr/>
        </p:nvGrpSpPr>
        <p:grpSpPr>
          <a:xfrm>
            <a:off x="2830653" y="1307905"/>
            <a:ext cx="3496980" cy="3209390"/>
            <a:chOff x="2205550" y="1416550"/>
            <a:chExt cx="3190675" cy="2855075"/>
          </a:xfrm>
        </p:grpSpPr>
        <p:sp>
          <p:nvSpPr>
            <p:cNvPr id="323" name="Google Shape;323;p17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456554" y="892682"/>
            <a:ext cx="8230888" cy="3858239"/>
            <a:chOff x="595975" y="1532525"/>
            <a:chExt cx="6409850" cy="3004625"/>
          </a:xfrm>
        </p:grpSpPr>
        <p:sp>
          <p:nvSpPr>
            <p:cNvPr id="346" name="Google Shape;346;p18"/>
            <p:cNvSpPr/>
            <p:nvPr/>
          </p:nvSpPr>
          <p:spPr>
            <a:xfrm>
              <a:off x="3743875" y="2501600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4631400" y="2534050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8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8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8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8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8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8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8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8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8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8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8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8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8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8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8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8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8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8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8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8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8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8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8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8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8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8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8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8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8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8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8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8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8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8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8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8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8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8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8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8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8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8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8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8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8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8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8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8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8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8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8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8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8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8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8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8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8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8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8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8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8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8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8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8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8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8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8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8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8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8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8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8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8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8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8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8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8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8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8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8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8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8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8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8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8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8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8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8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8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8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8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8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8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8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8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8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8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8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8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8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8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8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8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8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8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8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8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8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8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8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8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8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8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8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8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8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8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8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8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8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8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8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8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8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8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8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8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8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8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8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8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8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8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8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8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8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8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8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8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8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8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8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8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8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8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8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8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8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8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8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8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8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8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8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8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8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8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8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8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8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8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8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8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8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8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8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8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8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8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8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8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8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8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8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8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8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8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8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8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8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8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8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8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8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8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8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8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8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8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8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8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8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8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8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8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8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8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8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8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8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8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8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8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8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8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8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8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8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8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8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8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8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8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8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8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8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8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8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8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8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8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8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8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8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8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8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8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8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8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8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8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8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2" name="Google Shape;1372;p18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Специализации</a:t>
            </a: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73" name="Google Shape;1373;p18"/>
          <p:cNvSpPr txBox="1"/>
          <p:nvPr/>
        </p:nvSpPr>
        <p:spPr>
          <a:xfrm>
            <a:off x="232775" y="1638300"/>
            <a:ext cx="3439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Геодезия строительства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4" name="Google Shape;1374;p18"/>
          <p:cNvSpPr txBox="1"/>
          <p:nvPr/>
        </p:nvSpPr>
        <p:spPr>
          <a:xfrm>
            <a:off x="70042" y="2941625"/>
            <a:ext cx="3941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Геодезия картографии и кадастра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5" name="Google Shape;1375;p18"/>
          <p:cNvSpPr txBox="1"/>
          <p:nvPr/>
        </p:nvSpPr>
        <p:spPr>
          <a:xfrm>
            <a:off x="232775" y="4147750"/>
            <a:ext cx="3439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Геодезия геодинамики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6" name="Google Shape;1376;p18"/>
          <p:cNvSpPr txBox="1"/>
          <p:nvPr/>
        </p:nvSpPr>
        <p:spPr>
          <a:xfrm>
            <a:off x="5330100" y="1075536"/>
            <a:ext cx="3181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Инженерная геодезия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7" name="Google Shape;1377;p18"/>
          <p:cNvSpPr txBox="1"/>
          <p:nvPr/>
        </p:nvSpPr>
        <p:spPr>
          <a:xfrm>
            <a:off x="5330100" y="2207404"/>
            <a:ext cx="38139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Геодезия космических систем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8"/>
          <p:cNvSpPr txBox="1"/>
          <p:nvPr/>
        </p:nvSpPr>
        <p:spPr>
          <a:xfrm>
            <a:off x="5146451" y="3537363"/>
            <a:ext cx="3813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Геодезия геоинформационных систем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92287"/>
            <a:ext cx="2869935" cy="11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5466" y="79875"/>
            <a:ext cx="1649197" cy="164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052" y="1637707"/>
            <a:ext cx="2741428" cy="11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1038" y="1729075"/>
            <a:ext cx="2323837" cy="1586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064" y="3252508"/>
            <a:ext cx="3043084" cy="131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4169" y="3298853"/>
            <a:ext cx="2228545" cy="1218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19" title="5465399700556479161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64618" y="2655125"/>
            <a:ext cx="1879370" cy="250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8850" y="2497358"/>
            <a:ext cx="1935153" cy="2580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258443"/>
            <a:ext cx="2492107" cy="1009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309" y="47200"/>
            <a:ext cx="1432080" cy="143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594" y="1426736"/>
            <a:ext cx="2380517" cy="1009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0396" y="1506075"/>
            <a:ext cx="2017901" cy="137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604" y="2828945"/>
            <a:ext cx="2642461" cy="1138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94391" y="2828945"/>
            <a:ext cx="1935158" cy="1432079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20"/>
          <p:cNvSpPr txBox="1"/>
          <p:nvPr/>
        </p:nvSpPr>
        <p:spPr>
          <a:xfrm>
            <a:off x="2834263" y="434137"/>
            <a:ext cx="24600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374923" rtl="0"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  <a:buNone/>
            </a:pPr>
            <a:r>
              <a:rPr lang="en" sz="1968">
                <a:solidFill>
                  <a:srgbClr val="1F1F1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Теодолит</a:t>
            </a:r>
            <a:endParaRPr sz="1968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02" name="Google Shape;1402;p20"/>
          <p:cNvSpPr txBox="1"/>
          <p:nvPr/>
        </p:nvSpPr>
        <p:spPr>
          <a:xfrm>
            <a:off x="2619514" y="1761395"/>
            <a:ext cx="24600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374923" rtl="0"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  <a:buNone/>
            </a:pPr>
            <a:r>
              <a:rPr lang="en" sz="1968">
                <a:solidFill>
                  <a:srgbClr val="1F1F1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Курвиметр</a:t>
            </a:r>
            <a:r>
              <a:rPr lang="en" sz="2747">
                <a:solidFill>
                  <a:srgbClr val="1F1F1F"/>
                </a:solidFill>
              </a:rPr>
              <a:t> </a:t>
            </a:r>
            <a:endParaRPr sz="1148"/>
          </a:p>
        </p:txBody>
      </p:sp>
      <p:sp>
        <p:nvSpPr>
          <p:cNvPr id="1403" name="Google Shape;1403;p20"/>
          <p:cNvSpPr txBox="1"/>
          <p:nvPr/>
        </p:nvSpPr>
        <p:spPr>
          <a:xfrm>
            <a:off x="2681960" y="3088653"/>
            <a:ext cx="24600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374923" rtl="0"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  <a:buNone/>
            </a:pPr>
            <a:r>
              <a:rPr lang="en" sz="1968">
                <a:solidFill>
                  <a:srgbClr val="1F1F1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Н</a:t>
            </a:r>
            <a:r>
              <a:rPr lang="en" sz="1968">
                <a:solidFill>
                  <a:srgbClr val="1F1F1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ивелир</a:t>
            </a:r>
            <a:endParaRPr sz="1968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21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1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1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1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1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21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21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21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1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21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21"/>
          <p:cNvSpPr/>
          <p:nvPr/>
        </p:nvSpPr>
        <p:spPr>
          <a:xfrm>
            <a:off x="936722" y="1416585"/>
            <a:ext cx="2330430" cy="2330398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ela Gothic One"/>
                <a:ea typeface="Dela Gothic One"/>
                <a:cs typeface="Dela Gothic One"/>
                <a:sym typeface="Dela Gothic One"/>
              </a:rPr>
              <a:t>  Востребованность</a:t>
            </a:r>
            <a:endParaRPr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19" name="Google Shape;1419;p21"/>
          <p:cNvSpPr/>
          <p:nvPr/>
        </p:nvSpPr>
        <p:spPr>
          <a:xfrm>
            <a:off x="5067250" y="4080075"/>
            <a:ext cx="2260484" cy="1006483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1"/>
          <p:cNvSpPr/>
          <p:nvPr/>
        </p:nvSpPr>
        <p:spPr>
          <a:xfrm>
            <a:off x="5091351" y="4097713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1" name="Google Shape;1421;p21"/>
          <p:cNvSpPr/>
          <p:nvPr/>
        </p:nvSpPr>
        <p:spPr>
          <a:xfrm>
            <a:off x="5115450" y="146075"/>
            <a:ext cx="2260484" cy="863727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1"/>
          <p:cNvSpPr/>
          <p:nvPr/>
        </p:nvSpPr>
        <p:spPr>
          <a:xfrm>
            <a:off x="5091363" y="146075"/>
            <a:ext cx="430735" cy="863727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3" name="Google Shape;1423;p21"/>
          <p:cNvSpPr/>
          <p:nvPr/>
        </p:nvSpPr>
        <p:spPr>
          <a:xfrm>
            <a:off x="5156626" y="2089100"/>
            <a:ext cx="1871110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21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5" name="Google Shape;1425;p21"/>
          <p:cNvSpPr/>
          <p:nvPr/>
        </p:nvSpPr>
        <p:spPr>
          <a:xfrm>
            <a:off x="6844151" y="1107750"/>
            <a:ext cx="2260444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1"/>
          <p:cNvSpPr/>
          <p:nvPr/>
        </p:nvSpPr>
        <p:spPr>
          <a:xfrm>
            <a:off x="6829780" y="1063849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7" name="Google Shape;1427;p21"/>
          <p:cNvSpPr/>
          <p:nvPr/>
        </p:nvSpPr>
        <p:spPr>
          <a:xfrm>
            <a:off x="7018674" y="2927175"/>
            <a:ext cx="1871040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21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9" name="Google Shape;1429;p21"/>
          <p:cNvSpPr txBox="1"/>
          <p:nvPr/>
        </p:nvSpPr>
        <p:spPr>
          <a:xfrm>
            <a:off x="5546200" y="217175"/>
            <a:ext cx="2405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Строительство и инфраструктура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0" name="Google Shape;1430;p21"/>
          <p:cNvSpPr txBox="1"/>
          <p:nvPr/>
        </p:nvSpPr>
        <p:spPr>
          <a:xfrm>
            <a:off x="6740376" y="1161500"/>
            <a:ext cx="2588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Мониторинг изменений окружающей среды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1" name="Google Shape;1431;p21"/>
          <p:cNvSpPr txBox="1"/>
          <p:nvPr/>
        </p:nvSpPr>
        <p:spPr>
          <a:xfrm>
            <a:off x="5032287" y="4080063"/>
            <a:ext cx="2330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Технологическое развитие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2" name="Google Shape;1432;p21"/>
          <p:cNvSpPr txBox="1"/>
          <p:nvPr/>
        </p:nvSpPr>
        <p:spPr>
          <a:xfrm>
            <a:off x="7018650" y="3069413"/>
            <a:ext cx="1871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Космическая геодезия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3" name="Google Shape;1433;p21"/>
          <p:cNvSpPr txBox="1"/>
          <p:nvPr/>
        </p:nvSpPr>
        <p:spPr>
          <a:xfrm>
            <a:off x="5154525" y="2020688"/>
            <a:ext cx="20859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Земельные изыскания и кадастр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Отрасли работы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39" name="Google Shape;1439;p22"/>
          <p:cNvSpPr txBox="1"/>
          <p:nvPr/>
        </p:nvSpPr>
        <p:spPr>
          <a:xfrm>
            <a:off x="1224900" y="1085654"/>
            <a:ext cx="19656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Строительство</a:t>
            </a:r>
            <a:endParaRPr sz="1600">
              <a:solidFill>
                <a:srgbClr val="66666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0" name="Google Shape;1440;p22"/>
          <p:cNvSpPr txBox="1"/>
          <p:nvPr/>
        </p:nvSpPr>
        <p:spPr>
          <a:xfrm>
            <a:off x="457200" y="2631066"/>
            <a:ext cx="2214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737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Проектирование</a:t>
            </a:r>
            <a:endParaRPr sz="2000">
              <a:solidFill>
                <a:srgbClr val="07376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1" name="Google Shape;1441;p22"/>
          <p:cNvSpPr txBox="1"/>
          <p:nvPr/>
        </p:nvSpPr>
        <p:spPr>
          <a:xfrm>
            <a:off x="615943" y="4074800"/>
            <a:ext cx="273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69138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Геология и геофизика</a:t>
            </a:r>
            <a:endParaRPr sz="1600">
              <a:solidFill>
                <a:srgbClr val="E6913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2" name="Google Shape;1442;p22"/>
          <p:cNvSpPr txBox="1"/>
          <p:nvPr/>
        </p:nvSpPr>
        <p:spPr>
          <a:xfrm>
            <a:off x="5965825" y="1040050"/>
            <a:ext cx="2920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737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Архитектура и дизайн</a:t>
            </a:r>
            <a:endParaRPr sz="1600">
              <a:solidFill>
                <a:srgbClr val="07376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3" name="Google Shape;1443;p22"/>
          <p:cNvSpPr txBox="1"/>
          <p:nvPr/>
        </p:nvSpPr>
        <p:spPr>
          <a:xfrm>
            <a:off x="6333875" y="2488425"/>
            <a:ext cx="30993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Геодезический мониторинг</a:t>
            </a:r>
            <a:endParaRPr sz="20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4" name="Google Shape;1444;p22"/>
          <p:cNvSpPr txBox="1"/>
          <p:nvPr/>
        </p:nvSpPr>
        <p:spPr>
          <a:xfrm>
            <a:off x="5965825" y="3936801"/>
            <a:ext cx="25935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Кадастровые работы</a:t>
            </a:r>
            <a:endParaRPr sz="1600">
              <a:solidFill>
                <a:srgbClr val="2A3F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45" name="Google Shape;1445;p22" title="Без названия75_20251024212556.png"/>
          <p:cNvPicPr preferRelativeResize="0"/>
          <p:nvPr/>
        </p:nvPicPr>
        <p:blipFill rotWithShape="1">
          <a:blip r:embed="rId3">
            <a:alphaModFix/>
          </a:blip>
          <a:srcRect b="18319" l="5687" r="7476" t="4514"/>
          <a:stretch/>
        </p:blipFill>
        <p:spPr>
          <a:xfrm>
            <a:off x="3823087" y="2105950"/>
            <a:ext cx="1497827" cy="17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6" name="Google Shape;144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447" name="Google Shape;1447;p22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8" name="Google Shape;1448;p22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9" name="Google Shape;1449;p22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0" name="Google Shape;1450;p22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1" name="Google Shape;1451;p22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2" name="Google Shape;1452;p22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3" name="Google Shape;1453;p22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2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9" name="Google Shape;1459;p23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1460" name="Google Shape;1460;p23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3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3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6" name="Google Shape;1526;p23"/>
          <p:cNvSpPr txBox="1"/>
          <p:nvPr/>
        </p:nvSpPr>
        <p:spPr>
          <a:xfrm>
            <a:off x="749000" y="22190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Образование</a:t>
            </a: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27" name="Google Shape;1527;p23"/>
          <p:cNvSpPr txBox="1"/>
          <p:nvPr/>
        </p:nvSpPr>
        <p:spPr>
          <a:xfrm>
            <a:off x="138300" y="1223350"/>
            <a:ext cx="2208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горный университет (УГГУ)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28" name="Google Shape;1528;p23"/>
          <p:cNvSpPr txBox="1"/>
          <p:nvPr/>
        </p:nvSpPr>
        <p:spPr>
          <a:xfrm>
            <a:off x="103975" y="2572975"/>
            <a:ext cx="22080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федеральный университет имени Б. Н. Ельцина (УрФУ)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29" name="Google Shape;1529;p23"/>
          <p:cNvSpPr txBox="1"/>
          <p:nvPr/>
        </p:nvSpPr>
        <p:spPr>
          <a:xfrm>
            <a:off x="-351475" y="3589300"/>
            <a:ext cx="278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Октябрьский нефтяной колледж имени С.И. Кувыкина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0" name="Google Shape;1530;p23"/>
          <p:cNvSpPr txBox="1"/>
          <p:nvPr/>
        </p:nvSpPr>
        <p:spPr>
          <a:xfrm>
            <a:off x="6318100" y="856825"/>
            <a:ext cx="2755200" cy="17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0A0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Сибирский государственный университет геосистем и технологий (СГУГиТ)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1" name="Google Shape;1531;p23"/>
          <p:cNvSpPr txBox="1"/>
          <p:nvPr/>
        </p:nvSpPr>
        <p:spPr>
          <a:xfrm>
            <a:off x="6777275" y="2386788"/>
            <a:ext cx="22080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Западно-Уральский горный техникум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24"/>
          <p:cNvSpPr txBox="1"/>
          <p:nvPr/>
        </p:nvSpPr>
        <p:spPr>
          <a:xfrm>
            <a:off x="428975" y="180725"/>
            <a:ext cx="374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Практика</a:t>
            </a:r>
            <a:endParaRPr sz="25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pic>
        <p:nvPicPr>
          <p:cNvPr id="1537" name="Google Shape;15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2398" y="112075"/>
            <a:ext cx="5681500" cy="48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050" y="1723375"/>
            <a:ext cx="3077598" cy="2696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3" name="Google Shape;15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048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25"/>
          <p:cNvSpPr txBox="1"/>
          <p:nvPr/>
        </p:nvSpPr>
        <p:spPr>
          <a:xfrm>
            <a:off x="6621400" y="1886775"/>
            <a:ext cx="1004700" cy="499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6D7A8"/>
                </a:highlight>
              </a:rPr>
              <a:t>     ?</a:t>
            </a:r>
            <a:endParaRPr sz="18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9" name="Google Shape;15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048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Google Shape;15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7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27"/>
          <p:cNvSpPr txBox="1"/>
          <p:nvPr/>
        </p:nvSpPr>
        <p:spPr>
          <a:xfrm>
            <a:off x="1269375" y="1880450"/>
            <a:ext cx="669900" cy="410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6D7A8"/>
                </a:highlight>
              </a:rPr>
              <a:t>   ?</a:t>
            </a:r>
            <a:endParaRPr sz="18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0" name="Google Shape;15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7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88" y="373600"/>
            <a:ext cx="8866026" cy="418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29"/>
          <p:cNvSpPr txBox="1"/>
          <p:nvPr/>
        </p:nvSpPr>
        <p:spPr>
          <a:xfrm>
            <a:off x="4237063" y="2569200"/>
            <a:ext cx="669900" cy="410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6D7A8"/>
                </a:highlight>
              </a:rPr>
              <a:t>   ?</a:t>
            </a:r>
            <a:endParaRPr sz="18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Google Shape;15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88" y="373600"/>
            <a:ext cx="8866026" cy="418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" name="Google Shape;15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750"/>
            <a:ext cx="8839200" cy="419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31"/>
          <p:cNvSpPr txBox="1"/>
          <p:nvPr/>
        </p:nvSpPr>
        <p:spPr>
          <a:xfrm>
            <a:off x="3485151" y="2366400"/>
            <a:ext cx="722400" cy="410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6D7A8"/>
                </a:highlight>
              </a:rPr>
              <a:t>   ?</a:t>
            </a:r>
            <a:endParaRPr sz="18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2" name="Google Shape;15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750"/>
            <a:ext cx="8839200" cy="419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" name="Google Shape;15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1900"/>
            <a:ext cx="8839201" cy="4190011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33"/>
          <p:cNvSpPr txBox="1"/>
          <p:nvPr/>
        </p:nvSpPr>
        <p:spPr>
          <a:xfrm rot="-3582456">
            <a:off x="2154786" y="3202701"/>
            <a:ext cx="1651027" cy="253044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B6D7A8"/>
                </a:highlight>
              </a:rPr>
              <a:t>        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589" name="Google Shape;1589;p33"/>
          <p:cNvSpPr txBox="1"/>
          <p:nvPr/>
        </p:nvSpPr>
        <p:spPr>
          <a:xfrm rot="-3845122">
            <a:off x="2897183" y="3120135"/>
            <a:ext cx="271834" cy="4952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?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1900"/>
            <a:ext cx="8839201" cy="4190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9" name="Google Shape;15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6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35"/>
          <p:cNvSpPr txBox="1"/>
          <p:nvPr/>
        </p:nvSpPr>
        <p:spPr>
          <a:xfrm>
            <a:off x="2413100" y="3378000"/>
            <a:ext cx="732900" cy="391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6D7A8"/>
                </a:highlight>
              </a:rPr>
              <a:t>   ?</a:t>
            </a:r>
            <a:endParaRPr sz="18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6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0" name="Google Shape;16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2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37"/>
          <p:cNvSpPr txBox="1"/>
          <p:nvPr/>
        </p:nvSpPr>
        <p:spPr>
          <a:xfrm rot="-4251395">
            <a:off x="4179387" y="1898236"/>
            <a:ext cx="1526833" cy="124193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B6D7A8"/>
                </a:highlight>
              </a:rPr>
              <a:t>        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612" name="Google Shape;1612;p37"/>
          <p:cNvSpPr txBox="1"/>
          <p:nvPr/>
        </p:nvSpPr>
        <p:spPr>
          <a:xfrm rot="-3845122">
            <a:off x="4878108" y="1712710"/>
            <a:ext cx="271834" cy="4952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?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" name="Google Shape;16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24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2" name="Google Shape;16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199244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p39"/>
          <p:cNvSpPr txBox="1"/>
          <p:nvPr/>
        </p:nvSpPr>
        <p:spPr>
          <a:xfrm rot="1690545">
            <a:off x="3315059" y="1875729"/>
            <a:ext cx="2291086" cy="124147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B6D7A8"/>
                </a:highlight>
              </a:rPr>
              <a:t>        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624" name="Google Shape;1624;p39"/>
          <p:cNvSpPr txBox="1"/>
          <p:nvPr/>
        </p:nvSpPr>
        <p:spPr>
          <a:xfrm rot="-537537">
            <a:off x="2597243" y="1437526"/>
            <a:ext cx="915064" cy="12424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B6D7A8"/>
                </a:highlight>
              </a:rPr>
              <a:t>        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625" name="Google Shape;1625;p39"/>
          <p:cNvSpPr txBox="1"/>
          <p:nvPr/>
        </p:nvSpPr>
        <p:spPr>
          <a:xfrm>
            <a:off x="3935925" y="1545600"/>
            <a:ext cx="30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?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" name="Google Shape;163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199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284683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41"/>
          <p:cNvSpPr txBox="1"/>
          <p:nvPr/>
        </p:nvSpPr>
        <p:spPr>
          <a:xfrm rot="3610338">
            <a:off x="4187112" y="1522065"/>
            <a:ext cx="2291346" cy="123911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B6D7A8"/>
                </a:highlight>
              </a:rPr>
              <a:t>        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637" name="Google Shape;1637;p41"/>
          <p:cNvSpPr txBox="1"/>
          <p:nvPr/>
        </p:nvSpPr>
        <p:spPr>
          <a:xfrm rot="1924650">
            <a:off x="5130668" y="1532927"/>
            <a:ext cx="555863" cy="612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?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Google Shape;16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284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7" name="Google Shape;16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097804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43"/>
          <p:cNvSpPr txBox="1"/>
          <p:nvPr/>
        </p:nvSpPr>
        <p:spPr>
          <a:xfrm rot="1690588">
            <a:off x="761036" y="1392748"/>
            <a:ext cx="1526720" cy="124147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B6D7A8"/>
                </a:highlight>
              </a:rPr>
              <a:t>        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649" name="Google Shape;1649;p43"/>
          <p:cNvSpPr txBox="1"/>
          <p:nvPr/>
        </p:nvSpPr>
        <p:spPr>
          <a:xfrm rot="1265178">
            <a:off x="1448517" y="1216984"/>
            <a:ext cx="151762" cy="1707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4" name="Google Shape;16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097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