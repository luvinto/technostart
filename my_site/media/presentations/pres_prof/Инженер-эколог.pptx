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Dela Gothic One" panose="020B0604020202020204" charset="-128"/>
      <p:regular r:id="rId14"/>
    </p:embeddedFont>
    <p:embeddedFont>
      <p:font typeface="Fira Sans" panose="020B0503050000020004" pitchFamily="34" charset="0"/>
      <p:regular r:id="rId15"/>
      <p:bold r:id="rId16"/>
      <p:italic r:id="rId17"/>
      <p:boldItalic r:id="rId18"/>
    </p:embeddedFont>
    <p:embeddedFont>
      <p:font typeface="Fira Sans Medium" panose="020B0603050000020004" pitchFamily="34" charset="0"/>
      <p:regular r:id="rId19"/>
      <p:bold r:id="rId20"/>
      <p:italic r:id="rId21"/>
      <p:boldItalic r:id="rId22"/>
    </p:embeddedFont>
    <p:embeddedFont>
      <p:font typeface="Fira Sans SemiBold" panose="020B0603050000020004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-52"/>
      <p:regular r:id="rId27"/>
      <p:bold r:id="rId28"/>
      <p:italic r:id="rId29"/>
      <p:boldItalic r:id="rId30"/>
    </p:embeddedFont>
    <p:embeddedFont>
      <p:font typeface="Montserrat Medium" panose="00000600000000000000" pitchFamily="2" charset="-52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91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319fe7b233fca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319fe7b233fca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1f975bc221576bc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1f975bc221576bc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9026751953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9026751953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f7620b44f_1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f7620b44f_1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36ce56be2c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36ce56be2c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6cea66cd8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6cea66cd8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9292902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9292902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9cd2e769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9cd2e769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599131" y="1770445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377625" y="1598224"/>
            <a:ext cx="48780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ela Gothic One"/>
                <a:ea typeface="Dela Gothic One"/>
                <a:cs typeface="Dela Gothic One"/>
                <a:sym typeface="Dela Gothic One"/>
              </a:rPr>
              <a:t>Инженер-эколог</a:t>
            </a:r>
            <a:endParaRPr sz="3600">
              <a:solidFill>
                <a:srgbClr val="00002A"/>
              </a:solidFill>
              <a:highlight>
                <a:srgbClr val="FFFFFF"/>
              </a:highlight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title"/>
          </p:nvPr>
        </p:nvSpPr>
        <p:spPr>
          <a:xfrm>
            <a:off x="4491850" y="1247350"/>
            <a:ext cx="4604400" cy="25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" sz="1600" b="1" dirty="0">
                <a:latin typeface="Montserrat"/>
                <a:ea typeface="Montserrat"/>
                <a:cs typeface="Montserrat"/>
                <a:sym typeface="Montserrat"/>
              </a:rPr>
              <a:t>Инженер-эколог</a:t>
            </a:r>
            <a:r>
              <a:rPr lang="en" sz="1800" dirty="0"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lang="en" sz="1350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600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это специалист, работающий на стыке инженерии и экологии. Эта профессия включает в себя изучение воздействия производственной и промышленной деятельности на экологическое равновесие, снижение воздействия человеческой деятельности на природу и устойчивое использование ресурсов.</a:t>
            </a:r>
            <a:endParaRPr sz="16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14" title="illustration-of-ecologist-taking-care-of-earth-and-nature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8563"/>
            <a:ext cx="4491851" cy="359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139875" y="125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pic>
        <p:nvPicPr>
          <p:cNvPr id="176" name="Google Shape;176;p15" title="0_ya_001_453.jpg"/>
          <p:cNvPicPr preferRelativeResize="0"/>
          <p:nvPr/>
        </p:nvPicPr>
        <p:blipFill rotWithShape="1">
          <a:blip r:embed="rId3">
            <a:alphaModFix/>
          </a:blip>
          <a:srcRect r="6112"/>
          <a:stretch/>
        </p:blipFill>
        <p:spPr>
          <a:xfrm>
            <a:off x="4601475" y="987000"/>
            <a:ext cx="4461600" cy="31695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177" name="Google Shape;177;p15"/>
          <p:cNvSpPr txBox="1"/>
          <p:nvPr/>
        </p:nvSpPr>
        <p:spPr>
          <a:xfrm>
            <a:off x="225375" y="800100"/>
            <a:ext cx="4376100" cy="48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Профессия инженера-эколога </a:t>
            </a:r>
            <a:r>
              <a:rPr lang="en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зародилась в середине XX века в ответ на общественную озабоченность по поводу загрязнения воды и воздуха, а также других ухудшений состояния окружающей среды. До середины 1960-х годов экологическая инженерия была специализированной областью гражданского строительства и называлась санитарной инженерией.</a:t>
            </a: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Первыми в России к подготовке по специальностям экологического профиля приступили технические вузы. Например, в 1983/1984 учебном году в МХТИ им. Д.И. Менделеева был осуществлён первый приём по специальности «Экология и охрана окружающей среды».</a:t>
            </a:r>
            <a:endParaRPr dirty="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/>
        </p:nvSpPr>
        <p:spPr>
          <a:xfrm>
            <a:off x="742450" y="1169100"/>
            <a:ext cx="21705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Оценка воздействия на окружающую среду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048350" y="3510900"/>
            <a:ext cx="1955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Разработка экологических стратегий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577425" y="3189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6377475" y="1230475"/>
            <a:ext cx="21705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75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Разработка и внедрение зеленых технологий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6416025" y="3644700"/>
            <a:ext cx="1955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Экологический анализ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8134589" y="3644693"/>
            <a:ext cx="630131" cy="630131"/>
            <a:chOff x="6323089" y="1361318"/>
            <a:chExt cx="630131" cy="630131"/>
          </a:xfrm>
        </p:grpSpPr>
        <p:sp>
          <p:nvSpPr>
            <p:cNvPr id="188" name="Google Shape;188;p16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6474935" y="1526642"/>
              <a:ext cx="326465" cy="299484"/>
            </a:xfrm>
            <a:custGeom>
              <a:avLst/>
              <a:gdLst/>
              <a:ahLst/>
              <a:cxnLst/>
              <a:rect l="l" t="t" r="r" b="b"/>
              <a:pathLst>
                <a:path w="12257" h="11244" extrusionOk="0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" name="Google Shape;192;p16"/>
          <p:cNvGrpSpPr/>
          <p:nvPr/>
        </p:nvGrpSpPr>
        <p:grpSpPr>
          <a:xfrm>
            <a:off x="8371734" y="1230479"/>
            <a:ext cx="630131" cy="630104"/>
            <a:chOff x="6323089" y="2499219"/>
            <a:chExt cx="630131" cy="630104"/>
          </a:xfrm>
        </p:grpSpPr>
        <p:sp>
          <p:nvSpPr>
            <p:cNvPr id="193" name="Google Shape;193;p16"/>
            <p:cNvSpPr/>
            <p:nvPr/>
          </p:nvSpPr>
          <p:spPr>
            <a:xfrm>
              <a:off x="6368635" y="2544765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6544932" y="2639239"/>
              <a:ext cx="186445" cy="350064"/>
            </a:xfrm>
            <a:custGeom>
              <a:avLst/>
              <a:gdLst/>
              <a:ahLst/>
              <a:cxnLst/>
              <a:rect l="l" t="t" r="r" b="b"/>
              <a:pathLst>
                <a:path w="7000" h="13143" extrusionOk="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6587122" y="2731183"/>
              <a:ext cx="102092" cy="188949"/>
            </a:xfrm>
            <a:custGeom>
              <a:avLst/>
              <a:gdLst/>
              <a:ahLst/>
              <a:cxnLst/>
              <a:rect l="l" t="t" r="r" b="b"/>
              <a:pathLst>
                <a:path w="3833" h="7094" extrusionOk="0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6533133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6323089" y="25843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112355" y="1361331"/>
            <a:ext cx="630104" cy="630131"/>
            <a:chOff x="2190776" y="1361318"/>
            <a:chExt cx="630104" cy="630131"/>
          </a:xfrm>
        </p:grpSpPr>
        <p:sp>
          <p:nvSpPr>
            <p:cNvPr id="199" name="Google Shape;199;p16"/>
            <p:cNvSpPr/>
            <p:nvPr/>
          </p:nvSpPr>
          <p:spPr>
            <a:xfrm>
              <a:off x="2200045" y="1406731"/>
              <a:ext cx="611566" cy="539305"/>
            </a:xfrm>
            <a:custGeom>
              <a:avLst/>
              <a:gdLst/>
              <a:ahLst/>
              <a:cxnLst/>
              <a:rect l="l" t="t" r="r" b="b"/>
              <a:pathLst>
                <a:path w="22961" h="20248" extrusionOk="0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2331621" y="1552797"/>
              <a:ext cx="348412" cy="81849"/>
            </a:xfrm>
            <a:custGeom>
              <a:avLst/>
              <a:gdLst/>
              <a:ahLst/>
              <a:cxnLst/>
              <a:rect l="l" t="t" r="r" b="b"/>
              <a:pathLst>
                <a:path w="13081" h="3073" extrusionOk="0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2368751" y="1605109"/>
              <a:ext cx="274154" cy="66641"/>
            </a:xfrm>
            <a:custGeom>
              <a:avLst/>
              <a:gdLst/>
              <a:ahLst/>
              <a:cxnLst/>
              <a:rect l="l" t="t" r="r" b="b"/>
              <a:pathLst>
                <a:path w="10293" h="2502" extrusionOk="0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2405853" y="1657393"/>
              <a:ext cx="199949" cy="51485"/>
            </a:xfrm>
            <a:custGeom>
              <a:avLst/>
              <a:gdLst/>
              <a:ahLst/>
              <a:cxnLst/>
              <a:rect l="l" t="t" r="r" b="b"/>
              <a:pathLst>
                <a:path w="7507" h="1933" extrusionOk="0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2464051" y="1717295"/>
              <a:ext cx="83554" cy="82675"/>
            </a:xfrm>
            <a:custGeom>
              <a:avLst/>
              <a:gdLst/>
              <a:ahLst/>
              <a:cxnLst/>
              <a:rect l="l" t="t" r="r" b="b"/>
              <a:pathLst>
                <a:path w="3137" h="3104" extrusionOk="0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2190776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2505388" y="1446524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282541" y="3596044"/>
            <a:ext cx="630104" cy="630104"/>
            <a:chOff x="2190776" y="2499219"/>
            <a:chExt cx="630104" cy="630104"/>
          </a:xfrm>
        </p:grpSpPr>
        <p:sp>
          <p:nvSpPr>
            <p:cNvPr id="207" name="Google Shape;207;p16"/>
            <p:cNvSpPr/>
            <p:nvPr/>
          </p:nvSpPr>
          <p:spPr>
            <a:xfrm>
              <a:off x="2236321" y="2544765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2434539" y="2737069"/>
              <a:ext cx="91118" cy="91118"/>
            </a:xfrm>
            <a:custGeom>
              <a:avLst/>
              <a:gdLst/>
              <a:ahLst/>
              <a:cxnLst/>
              <a:rect l="l" t="t" r="r" b="b"/>
              <a:pathLst>
                <a:path w="3421" h="3421" extrusionOk="0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2360307" y="2662838"/>
              <a:ext cx="291893" cy="302014"/>
            </a:xfrm>
            <a:custGeom>
              <a:avLst/>
              <a:gdLst/>
              <a:ahLst/>
              <a:cxnLst/>
              <a:rect l="l" t="t" r="r" b="b"/>
              <a:pathLst>
                <a:path w="10959" h="11339" extrusionOk="0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2190776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505388" y="25843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16"/>
          <p:cNvSpPr txBox="1"/>
          <p:nvPr/>
        </p:nvSpPr>
        <p:spPr>
          <a:xfrm>
            <a:off x="3707425" y="25478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3668582" y="28637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3641800" y="22220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3890950" y="225503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3753594" y="21773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17" name="Google Shape;217;p16"/>
          <p:cNvGrpSpPr/>
          <p:nvPr/>
        </p:nvGrpSpPr>
        <p:grpSpPr>
          <a:xfrm>
            <a:off x="2968732" y="1375162"/>
            <a:ext cx="3408752" cy="2878229"/>
            <a:chOff x="2820853" y="1403508"/>
            <a:chExt cx="3502263" cy="2951424"/>
          </a:xfrm>
        </p:grpSpPr>
        <p:sp>
          <p:nvSpPr>
            <p:cNvPr id="218" name="Google Shape;218;p16"/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 txBox="1"/>
          <p:nvPr/>
        </p:nvSpPr>
        <p:spPr>
          <a:xfrm>
            <a:off x="189325" y="943975"/>
            <a:ext cx="33825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DD915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Интерес к наукам о природе</a:t>
            </a:r>
            <a:endParaRPr b="1">
              <a:solidFill>
                <a:srgbClr val="DD91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113275" y="2261113"/>
            <a:ext cx="2467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0475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Ответственность</a:t>
            </a:r>
            <a:endParaRPr b="1">
              <a:solidFill>
                <a:srgbClr val="3047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17"/>
          <p:cNvSpPr txBox="1"/>
          <p:nvPr/>
        </p:nvSpPr>
        <p:spPr>
          <a:xfrm>
            <a:off x="151375" y="3812300"/>
            <a:ext cx="2391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Исследовательские навыки</a:t>
            </a:r>
            <a:endParaRPr b="1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717400" y="264450"/>
            <a:ext cx="77235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6181225" y="1324000"/>
            <a:ext cx="2809800" cy="11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i="1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Люди, для которых забота о окружающей среде и природе является важной ценностью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6181225" y="2349329"/>
            <a:ext cx="23913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06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Аналитический ум</a:t>
            </a:r>
            <a:endParaRPr b="1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6396000" y="2648425"/>
            <a:ext cx="23913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Способность анализировать сложные данные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6360332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0475E"/>
                </a:solidFill>
                <a:latin typeface="Montserrat"/>
                <a:ea typeface="Montserrat"/>
                <a:cs typeface="Montserrat"/>
                <a:sym typeface="Montserrat"/>
              </a:rPr>
              <a:t>Усидчивость</a:t>
            </a:r>
            <a:endParaRPr b="1">
              <a:solidFill>
                <a:srgbClr val="3047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5961475" y="3899925"/>
            <a:ext cx="3026400" cy="13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Умение долго работать над одним делом уменьшает шанс возникновения ошибок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160350" y="1306825"/>
            <a:ext cx="2935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Люди, увлеченные изучением биологии, химии, геологии и других природных наук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13275" y="4266375"/>
            <a:ext cx="316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Умение заниматься сложной исследовательской работой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113275" y="2575213"/>
            <a:ext cx="2649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Готовность нести ответственность за воздействие человека на окружающую среду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5425200" y="892700"/>
            <a:ext cx="34971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Экологическая ориенитация</a:t>
            </a:r>
            <a:endParaRPr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 b="0" i="0" u="none" strike="noStrike" cap="non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 b="0" i="0" u="none" strike="noStrike" cap="non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28" name="Google Shape;328;p17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l="6728" t="4310" r="9061" b="18445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17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30" name="Google Shape;330;p17"/>
            <p:cNvSpPr/>
            <p:nvPr/>
          </p:nvSpPr>
          <p:spPr>
            <a:xfrm>
              <a:off x="3142175" y="2075650"/>
              <a:ext cx="630225" cy="296925"/>
            </a:xfrm>
            <a:custGeom>
              <a:avLst/>
              <a:gdLst/>
              <a:ahLst/>
              <a:cxnLst/>
              <a:rect l="l" t="t" r="r" b="b"/>
              <a:pathLst>
                <a:path w="25209" h="11877" extrusionOk="0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2647325" y="1417225"/>
              <a:ext cx="1125875" cy="893600"/>
            </a:xfrm>
            <a:custGeom>
              <a:avLst/>
              <a:gdLst/>
              <a:ahLst/>
              <a:cxnLst/>
              <a:rect l="l" t="t" r="r" b="b"/>
              <a:pathLst>
                <a:path w="45035" h="35744" extrusionOk="0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3050325" y="2004400"/>
              <a:ext cx="722075" cy="368175"/>
            </a:xfrm>
            <a:custGeom>
              <a:avLst/>
              <a:gdLst/>
              <a:ahLst/>
              <a:cxnLst/>
              <a:rect l="l" t="t" r="r" b="b"/>
              <a:pathLst>
                <a:path w="28883" h="14727" extrusionOk="0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2951350" y="3125475"/>
              <a:ext cx="395900" cy="552650"/>
            </a:xfrm>
            <a:custGeom>
              <a:avLst/>
              <a:gdLst/>
              <a:ahLst/>
              <a:cxnLst/>
              <a:rect l="l" t="t" r="r" b="b"/>
              <a:pathLst>
                <a:path w="15836" h="22106" extrusionOk="0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2277600" y="3149225"/>
              <a:ext cx="1018975" cy="1122400"/>
            </a:xfrm>
            <a:custGeom>
              <a:avLst/>
              <a:gdLst/>
              <a:ahLst/>
              <a:cxnLst/>
              <a:rect l="l" t="t" r="r" b="b"/>
              <a:pathLst>
                <a:path w="40759" h="44896" extrusionOk="0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2848425" y="3125475"/>
              <a:ext cx="498025" cy="661900"/>
            </a:xfrm>
            <a:custGeom>
              <a:avLst/>
              <a:gdLst/>
              <a:ahLst/>
              <a:cxnLst/>
              <a:rect l="l" t="t" r="r" b="b"/>
              <a:pathLst>
                <a:path w="19921" h="26476" extrusionOk="0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3820675" y="1416550"/>
              <a:ext cx="1144075" cy="886350"/>
            </a:xfrm>
            <a:custGeom>
              <a:avLst/>
              <a:gdLst/>
              <a:ahLst/>
              <a:cxnLst/>
              <a:rect l="l" t="t" r="r" b="b"/>
              <a:pathLst>
                <a:path w="45763" h="35454" extrusionOk="0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3821475" y="2075650"/>
              <a:ext cx="631825" cy="296125"/>
            </a:xfrm>
            <a:custGeom>
              <a:avLst/>
              <a:gdLst/>
              <a:ahLst/>
              <a:cxnLst/>
              <a:rect l="l" t="t" r="r" b="b"/>
              <a:pathLst>
                <a:path w="25273" h="11845" extrusionOk="0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3820675" y="2002850"/>
              <a:ext cx="727625" cy="368925"/>
            </a:xfrm>
            <a:custGeom>
              <a:avLst/>
              <a:gdLst/>
              <a:ahLst/>
              <a:cxnLst/>
              <a:rect l="l" t="t" r="r" b="b"/>
              <a:pathLst>
                <a:path w="29105" h="14757" extrusionOk="0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2853975" y="2412125"/>
              <a:ext cx="308800" cy="654000"/>
            </a:xfrm>
            <a:custGeom>
              <a:avLst/>
              <a:gdLst/>
              <a:ahLst/>
              <a:cxnLst/>
              <a:rect l="l" t="t" r="r" b="b"/>
              <a:pathLst>
                <a:path w="12352" h="26160" extrusionOk="0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2205550" y="2031350"/>
              <a:ext cx="820250" cy="1178150"/>
            </a:xfrm>
            <a:custGeom>
              <a:avLst/>
              <a:gdLst/>
              <a:ahLst/>
              <a:cxnLst/>
              <a:rect l="l" t="t" r="r" b="b"/>
              <a:pathLst>
                <a:path w="32810" h="47126" extrusionOk="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2757375" y="2335325"/>
              <a:ext cx="368975" cy="759300"/>
            </a:xfrm>
            <a:custGeom>
              <a:avLst/>
              <a:gdLst/>
              <a:ahLst/>
              <a:cxnLst/>
              <a:rect l="l" t="t" r="r" b="b"/>
              <a:pathLst>
                <a:path w="14759" h="30372" extrusionOk="0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4439800" y="2415300"/>
              <a:ext cx="308800" cy="653200"/>
            </a:xfrm>
            <a:custGeom>
              <a:avLst/>
              <a:gdLst/>
              <a:ahLst/>
              <a:cxnLst/>
              <a:rect l="l" t="t" r="r" b="b"/>
              <a:pathLst>
                <a:path w="12352" h="26128" extrusionOk="0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4570450" y="2031675"/>
              <a:ext cx="825775" cy="1177825"/>
            </a:xfrm>
            <a:custGeom>
              <a:avLst/>
              <a:gdLst/>
              <a:ahLst/>
              <a:cxnLst/>
              <a:rect l="l" t="t" r="r" b="b"/>
              <a:pathLst>
                <a:path w="33031" h="47113" extrusionOk="0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4475425" y="2340075"/>
              <a:ext cx="394325" cy="760100"/>
            </a:xfrm>
            <a:custGeom>
              <a:avLst/>
              <a:gdLst/>
              <a:ahLst/>
              <a:cxnLst/>
              <a:rect l="l" t="t" r="r" b="b"/>
              <a:pathLst>
                <a:path w="15773" h="30404" extrusionOk="0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4247425" y="3125475"/>
              <a:ext cx="394300" cy="551850"/>
            </a:xfrm>
            <a:custGeom>
              <a:avLst/>
              <a:gdLst/>
              <a:ahLst/>
              <a:cxnLst/>
              <a:rect l="l" t="t" r="r" b="b"/>
              <a:pathLst>
                <a:path w="15772" h="22074" extrusionOk="0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299675" y="3155550"/>
              <a:ext cx="1016600" cy="1116075"/>
            </a:xfrm>
            <a:custGeom>
              <a:avLst/>
              <a:gdLst/>
              <a:ahLst/>
              <a:cxnLst/>
              <a:rect l="l" t="t" r="r" b="b"/>
              <a:pathLst>
                <a:path w="40664" h="44643" extrusionOk="0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4247425" y="3124675"/>
              <a:ext cx="522550" cy="675375"/>
            </a:xfrm>
            <a:custGeom>
              <a:avLst/>
              <a:gdLst/>
              <a:ahLst/>
              <a:cxnLst/>
              <a:rect l="l" t="t" r="r" b="b"/>
              <a:pathLst>
                <a:path w="20902" h="27015" extrusionOk="0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8"/>
          <p:cNvGrpSpPr/>
          <p:nvPr/>
        </p:nvGrpSpPr>
        <p:grpSpPr>
          <a:xfrm>
            <a:off x="419066" y="968282"/>
            <a:ext cx="8305869" cy="3858239"/>
            <a:chOff x="595975" y="1532525"/>
            <a:chExt cx="6468241" cy="3004625"/>
          </a:xfrm>
        </p:grpSpPr>
        <p:sp>
          <p:nvSpPr>
            <p:cNvPr id="353" name="Google Shape;353;p18"/>
            <p:cNvSpPr/>
            <p:nvPr/>
          </p:nvSpPr>
          <p:spPr>
            <a:xfrm>
              <a:off x="3743877" y="2501603"/>
              <a:ext cx="3320339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4059775" y="2621950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4666080" y="2530631"/>
              <a:ext cx="2341950" cy="510459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3178575" y="2137375"/>
              <a:ext cx="386400" cy="341300"/>
            </a:xfrm>
            <a:custGeom>
              <a:avLst/>
              <a:gdLst/>
              <a:ahLst/>
              <a:cxnLst/>
              <a:rect l="l" t="t" r="r" b="b"/>
              <a:pathLst>
                <a:path w="15456" h="13652" extrusionOk="0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8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8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8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8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8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8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8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8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8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8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8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8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8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8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8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8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8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8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8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8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8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8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8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8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8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8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8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8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8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8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8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8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8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8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8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8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8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8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8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8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8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8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8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8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8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8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8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8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8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8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8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8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8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8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8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8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8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8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8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8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8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8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8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8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8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8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8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8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8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8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8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8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8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8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8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8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8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8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8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8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8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8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8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8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8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8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8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8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8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8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8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8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8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8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8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8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8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8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8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8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8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8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8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8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8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8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8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8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8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8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8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8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8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8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8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8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8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8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8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8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8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8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8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8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8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8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8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8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8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8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8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8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8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8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8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8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8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8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8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8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8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8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8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8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8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8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8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8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8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8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8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8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8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8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8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8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8"/>
            <p:cNvSpPr/>
            <p:nvPr/>
          </p:nvSpPr>
          <p:spPr>
            <a:xfrm>
              <a:off x="4059775" y="1652875"/>
              <a:ext cx="340475" cy="340450"/>
            </a:xfrm>
            <a:custGeom>
              <a:avLst/>
              <a:gdLst/>
              <a:ahLst/>
              <a:cxnLst/>
              <a:rect l="l" t="t" r="r" b="b"/>
              <a:pathLst>
                <a:path w="13619" h="13618" extrusionOk="0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8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8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8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8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8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8"/>
            <p:cNvSpPr/>
            <p:nvPr/>
          </p:nvSpPr>
          <p:spPr>
            <a:xfrm>
              <a:off x="3201550" y="3106475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8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8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8"/>
            <p:cNvSpPr/>
            <p:nvPr/>
          </p:nvSpPr>
          <p:spPr>
            <a:xfrm>
              <a:off x="3298925" y="3161100"/>
              <a:ext cx="146500" cy="232800"/>
            </a:xfrm>
            <a:custGeom>
              <a:avLst/>
              <a:gdLst/>
              <a:ahLst/>
              <a:cxnLst/>
              <a:rect l="l" t="t" r="r" b="b"/>
              <a:pathLst>
                <a:path w="5860" h="9312" extrusionOk="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8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8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8"/>
            <p:cNvSpPr/>
            <p:nvPr/>
          </p:nvSpPr>
          <p:spPr>
            <a:xfrm>
              <a:off x="4059775" y="3591000"/>
              <a:ext cx="340475" cy="341275"/>
            </a:xfrm>
            <a:custGeom>
              <a:avLst/>
              <a:gdLst/>
              <a:ahLst/>
              <a:cxnLst/>
              <a:rect l="l" t="t" r="r" b="b"/>
              <a:pathLst>
                <a:path w="13619" h="13651" extrusionOk="0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8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8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8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8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8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8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8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8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8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8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8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8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8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8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8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8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8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8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8"/>
            <p:cNvSpPr/>
            <p:nvPr/>
          </p:nvSpPr>
          <p:spPr>
            <a:xfrm>
              <a:off x="3201550" y="4076325"/>
              <a:ext cx="340475" cy="340475"/>
            </a:xfrm>
            <a:custGeom>
              <a:avLst/>
              <a:gdLst/>
              <a:ahLst/>
              <a:cxnLst/>
              <a:rect l="l" t="t" r="r" b="b"/>
              <a:pathLst>
                <a:path w="13619" h="13619" extrusionOk="0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8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8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8"/>
            <p:cNvSpPr/>
            <p:nvPr/>
          </p:nvSpPr>
          <p:spPr>
            <a:xfrm>
              <a:off x="4113625" y="2679450"/>
              <a:ext cx="232775" cy="225950"/>
            </a:xfrm>
            <a:custGeom>
              <a:avLst/>
              <a:gdLst/>
              <a:ahLst/>
              <a:cxnLst/>
              <a:rect l="l" t="t" r="r" b="b"/>
              <a:pathLst>
                <a:path w="9311" h="9038" extrusionOk="0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8"/>
            <p:cNvSpPr/>
            <p:nvPr/>
          </p:nvSpPr>
          <p:spPr>
            <a:xfrm>
              <a:off x="4113625" y="2675775"/>
              <a:ext cx="232775" cy="229625"/>
            </a:xfrm>
            <a:custGeom>
              <a:avLst/>
              <a:gdLst/>
              <a:ahLst/>
              <a:cxnLst/>
              <a:rect l="l" t="t" r="r" b="b"/>
              <a:pathLst>
                <a:path w="9311" h="9185" fill="none" extrusionOk="0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8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8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8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18"/>
          <p:cNvSpPr txBox="1"/>
          <p:nvPr/>
        </p:nvSpPr>
        <p:spPr>
          <a:xfrm>
            <a:off x="611550" y="202371"/>
            <a:ext cx="79209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Специализации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80" name="Google Shape;1380;p18"/>
          <p:cNvSpPr txBox="1"/>
          <p:nvPr/>
        </p:nvSpPr>
        <p:spPr>
          <a:xfrm>
            <a:off x="611550" y="1617784"/>
            <a:ext cx="287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Экология воздуха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1" name="Google Shape;1381;p18"/>
          <p:cNvSpPr txBox="1"/>
          <p:nvPr/>
        </p:nvSpPr>
        <p:spPr>
          <a:xfrm>
            <a:off x="457200" y="2869975"/>
            <a:ext cx="303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Водоснабжения и очистка воды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2" name="Google Shape;1382;p18"/>
          <p:cNvSpPr txBox="1"/>
          <p:nvPr/>
        </p:nvSpPr>
        <p:spPr>
          <a:xfrm>
            <a:off x="457200" y="4149425"/>
            <a:ext cx="303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Землепользование и охрана почв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3" name="Google Shape;1383;p18"/>
          <p:cNvSpPr txBox="1"/>
          <p:nvPr/>
        </p:nvSpPr>
        <p:spPr>
          <a:xfrm>
            <a:off x="5655450" y="968270"/>
            <a:ext cx="2877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Водоснабжение и очистка воды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4" name="Google Shape;1384;p18"/>
          <p:cNvSpPr txBox="1"/>
          <p:nvPr/>
        </p:nvSpPr>
        <p:spPr>
          <a:xfrm>
            <a:off x="5828250" y="2233200"/>
            <a:ext cx="253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Биоразнообразие и экосистемы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5" name="Google Shape;1385;p18"/>
          <p:cNvSpPr txBox="1"/>
          <p:nvPr/>
        </p:nvSpPr>
        <p:spPr>
          <a:xfrm>
            <a:off x="5616300" y="3637075"/>
            <a:ext cx="29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Энергетическая экология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9" title="2025-10-27_14-26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6" y="48675"/>
            <a:ext cx="4186628" cy="118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19" title="2025-10-27_14-34-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58" y="1669194"/>
            <a:ext cx="3614622" cy="117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19" title="1J51lSlWfg3Dehr0VxehzmudExU_qYS8mRs91L4YJaPB2mFLC6ArlQt2UD1NLfZMDDo5pnooaZcOKtZrRddeNjox.jpg"/>
          <p:cNvPicPr preferRelativeResize="0"/>
          <p:nvPr/>
        </p:nvPicPr>
        <p:blipFill rotWithShape="1">
          <a:blip r:embed="rId5">
            <a:alphaModFix/>
          </a:blip>
          <a:srcRect t="22259" b="50350"/>
          <a:stretch/>
        </p:blipFill>
        <p:spPr>
          <a:xfrm>
            <a:off x="-2" y="3274090"/>
            <a:ext cx="4186625" cy="1146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19" title="546539970055647916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4618" y="2594488"/>
            <a:ext cx="1879370" cy="250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20" title="1J51lSlWfg3Dehr0VxehzmudExU_qYS8mRs91L4YJaPB2mFLC6ArlQt2UD1NLfZMDDo5pnooaZcOKtZrRddeNjox.jpg"/>
          <p:cNvPicPr preferRelativeResize="0"/>
          <p:nvPr/>
        </p:nvPicPr>
        <p:blipFill rotWithShape="1">
          <a:blip r:embed="rId3">
            <a:alphaModFix/>
          </a:blip>
          <a:srcRect t="22259" b="50350"/>
          <a:stretch/>
        </p:blipFill>
        <p:spPr>
          <a:xfrm>
            <a:off x="-4338" y="2744673"/>
            <a:ext cx="3985702" cy="109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20" title="2025-10-27_14-26-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80" y="97373"/>
            <a:ext cx="3985677" cy="1130486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20"/>
          <p:cNvSpPr txBox="1"/>
          <p:nvPr/>
        </p:nvSpPr>
        <p:spPr>
          <a:xfrm>
            <a:off x="4595625" y="160113"/>
            <a:ext cx="4257900" cy="1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Биогеоценоз</a:t>
            </a:r>
            <a:endParaRPr sz="21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pic>
        <p:nvPicPr>
          <p:cNvPr id="1401" name="Google Shape;1401;p20" title="2025-10-27_14-34-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80" y="1428455"/>
            <a:ext cx="3441145" cy="1115622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20"/>
          <p:cNvSpPr txBox="1"/>
          <p:nvPr/>
        </p:nvSpPr>
        <p:spPr>
          <a:xfrm>
            <a:off x="4735125" y="1496475"/>
            <a:ext cx="38808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Заповедник</a:t>
            </a:r>
            <a:endParaRPr sz="21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pic>
        <p:nvPicPr>
          <p:cNvPr id="1403" name="Google Shape;14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4499" y="2637500"/>
            <a:ext cx="1879500" cy="250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20"/>
          <p:cNvSpPr txBox="1"/>
          <p:nvPr/>
        </p:nvSpPr>
        <p:spPr>
          <a:xfrm>
            <a:off x="4616325" y="2628825"/>
            <a:ext cx="41184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Загрязнение</a:t>
            </a:r>
            <a:endParaRPr sz="21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21"/>
          <p:cNvSpPr/>
          <p:nvPr/>
        </p:nvSpPr>
        <p:spPr>
          <a:xfrm>
            <a:off x="685800" y="1416575"/>
            <a:ext cx="2955947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ela Gothic One"/>
                <a:ea typeface="Dela Gothic One"/>
                <a:cs typeface="Dela Gothic One"/>
                <a:sym typeface="Dela Gothic One"/>
              </a:rPr>
              <a:t>Востребованность</a:t>
            </a:r>
            <a:endParaRPr sz="18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20" name="Google Shape;1420;p21"/>
          <p:cNvSpPr/>
          <p:nvPr/>
        </p:nvSpPr>
        <p:spPr>
          <a:xfrm>
            <a:off x="5062150" y="4052450"/>
            <a:ext cx="2641904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21"/>
          <p:cNvSpPr/>
          <p:nvPr/>
        </p:nvSpPr>
        <p:spPr>
          <a:xfrm>
            <a:off x="5062138" y="4052447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2" name="Google Shape;1422;p21"/>
          <p:cNvSpPr/>
          <p:nvPr/>
        </p:nvSpPr>
        <p:spPr>
          <a:xfrm>
            <a:off x="5156625" y="116325"/>
            <a:ext cx="2487380" cy="1061814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21"/>
          <p:cNvSpPr/>
          <p:nvPr/>
        </p:nvSpPr>
        <p:spPr>
          <a:xfrm>
            <a:off x="5156613" y="116325"/>
            <a:ext cx="430769" cy="1061814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4" name="Google Shape;1424;p21"/>
          <p:cNvSpPr/>
          <p:nvPr/>
        </p:nvSpPr>
        <p:spPr>
          <a:xfrm>
            <a:off x="5156626" y="2089100"/>
            <a:ext cx="1791957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6" name="Google Shape;1426;p21"/>
          <p:cNvSpPr/>
          <p:nvPr/>
        </p:nvSpPr>
        <p:spPr>
          <a:xfrm>
            <a:off x="7018675" y="1249975"/>
            <a:ext cx="1791934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28" name="Google Shape;1428;p21"/>
          <p:cNvSpPr/>
          <p:nvPr/>
        </p:nvSpPr>
        <p:spPr>
          <a:xfrm>
            <a:off x="7018674" y="2927175"/>
            <a:ext cx="1875992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30" name="Google Shape;1430;p21"/>
          <p:cNvSpPr txBox="1"/>
          <p:nvPr/>
        </p:nvSpPr>
        <p:spPr>
          <a:xfrm>
            <a:off x="5492899" y="4168750"/>
            <a:ext cx="2207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Соблюдение нормативов и законодательства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1" name="Google Shape;1431;p21"/>
          <p:cNvSpPr txBox="1"/>
          <p:nvPr/>
        </p:nvSpPr>
        <p:spPr>
          <a:xfrm>
            <a:off x="5545825" y="2316350"/>
            <a:ext cx="13389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Устойчивое развитие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2" name="Google Shape;1432;p21"/>
          <p:cNvSpPr txBox="1"/>
          <p:nvPr/>
        </p:nvSpPr>
        <p:spPr>
          <a:xfrm>
            <a:off x="5545825" y="198300"/>
            <a:ext cx="209818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Охрана окружающей среды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3" name="Google Shape;1433;p21"/>
          <p:cNvSpPr txBox="1"/>
          <p:nvPr/>
        </p:nvSpPr>
        <p:spPr>
          <a:xfrm>
            <a:off x="7383175" y="2914250"/>
            <a:ext cx="1656900" cy="10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Обеспечение экологической безопасности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34" name="Google Shape;1434;p21"/>
          <p:cNvSpPr txBox="1"/>
          <p:nvPr/>
        </p:nvSpPr>
        <p:spPr>
          <a:xfrm>
            <a:off x="7383175" y="1439450"/>
            <a:ext cx="153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Разработка инноваций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40" name="Google Shape;1440;p22"/>
          <p:cNvSpPr txBox="1"/>
          <p:nvPr/>
        </p:nvSpPr>
        <p:spPr>
          <a:xfrm>
            <a:off x="717403" y="1161875"/>
            <a:ext cx="2355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Промышленные предприятия</a:t>
            </a:r>
            <a:endParaRPr sz="1600" b="1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22"/>
          <p:cNvSpPr txBox="1"/>
          <p:nvPr/>
        </p:nvSpPr>
        <p:spPr>
          <a:xfrm>
            <a:off x="65925" y="2525225"/>
            <a:ext cx="26175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0475E"/>
                </a:solidFill>
                <a:latin typeface="Montserrat"/>
                <a:ea typeface="Montserrat"/>
                <a:cs typeface="Montserrat"/>
                <a:sym typeface="Montserrat"/>
              </a:rPr>
              <a:t>Научные и исследовательские институты</a:t>
            </a:r>
            <a:endParaRPr sz="1600" b="1">
              <a:solidFill>
                <a:srgbClr val="3047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22"/>
          <p:cNvSpPr txBox="1"/>
          <p:nvPr/>
        </p:nvSpPr>
        <p:spPr>
          <a:xfrm>
            <a:off x="575775" y="4229575"/>
            <a:ext cx="2145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2A365"/>
                </a:solidFill>
                <a:latin typeface="Montserrat"/>
                <a:ea typeface="Montserrat"/>
                <a:cs typeface="Montserrat"/>
                <a:sym typeface="Montserrat"/>
              </a:rPr>
              <a:t>Консалтинговые компании</a:t>
            </a:r>
            <a:endParaRPr sz="1600" b="1">
              <a:solidFill>
                <a:srgbClr val="F2A36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3" name="Google Shape;1443;p22"/>
          <p:cNvSpPr txBox="1"/>
          <p:nvPr/>
        </p:nvSpPr>
        <p:spPr>
          <a:xfrm>
            <a:off x="6003250" y="892675"/>
            <a:ext cx="29877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0475E"/>
                </a:solidFill>
                <a:latin typeface="Montserrat"/>
                <a:ea typeface="Montserrat"/>
                <a:cs typeface="Montserrat"/>
                <a:sym typeface="Montserrat"/>
              </a:rPr>
              <a:t>Неправительственные организации</a:t>
            </a:r>
            <a:endParaRPr sz="1600" b="1">
              <a:solidFill>
                <a:srgbClr val="3047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4" name="Google Shape;1444;p22"/>
          <p:cNvSpPr txBox="1"/>
          <p:nvPr/>
        </p:nvSpPr>
        <p:spPr>
          <a:xfrm>
            <a:off x="6460500" y="2525225"/>
            <a:ext cx="26835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Экологическое проектирование</a:t>
            </a:r>
            <a:endParaRPr sz="16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5" name="Google Shape;1445;p22"/>
          <p:cNvSpPr txBox="1"/>
          <p:nvPr/>
        </p:nvSpPr>
        <p:spPr>
          <a:xfrm>
            <a:off x="6135000" y="3524525"/>
            <a:ext cx="2764200" cy="15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Государственные органы и учреждения</a:t>
            </a:r>
            <a:endParaRPr sz="1600"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6" name="Google Shape;1446;p22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l="5687" t="4514" r="7476" b="18319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7" name="Google Shape;1447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48" name="Google Shape;1448;p22"/>
            <p:cNvSpPr/>
            <p:nvPr/>
          </p:nvSpPr>
          <p:spPr>
            <a:xfrm>
              <a:off x="2574500" y="3484925"/>
              <a:ext cx="1156725" cy="927925"/>
            </a:xfrm>
            <a:custGeom>
              <a:avLst/>
              <a:gdLst/>
              <a:ahLst/>
              <a:cxnLst/>
              <a:rect l="l" t="t" r="r" b="b"/>
              <a:pathLst>
                <a:path w="46269" h="37117" extrusionOk="0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" sz="2700" b="0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49" name="Google Shape;1449;p22"/>
            <p:cNvSpPr/>
            <p:nvPr/>
          </p:nvSpPr>
          <p:spPr>
            <a:xfrm>
              <a:off x="3870550" y="3484925"/>
              <a:ext cx="1156750" cy="927925"/>
            </a:xfrm>
            <a:custGeom>
              <a:avLst/>
              <a:gdLst/>
              <a:ahLst/>
              <a:cxnLst/>
              <a:rect l="l" t="t" r="r" b="b"/>
              <a:pathLst>
                <a:path w="46270" h="37117" extrusionOk="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" sz="2700" b="0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0" name="Google Shape;1450;p22"/>
            <p:cNvSpPr/>
            <p:nvPr/>
          </p:nvSpPr>
          <p:spPr>
            <a:xfrm>
              <a:off x="4525325" y="2289425"/>
              <a:ext cx="733150" cy="1335650"/>
            </a:xfrm>
            <a:custGeom>
              <a:avLst/>
              <a:gdLst/>
              <a:ahLst/>
              <a:cxnLst/>
              <a:rect l="l" t="t" r="r" b="b"/>
              <a:pathLst>
                <a:path w="29326" h="53426" extrusionOk="0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" sz="2700" b="0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1" name="Google Shape;1451;p22"/>
            <p:cNvSpPr/>
            <p:nvPr/>
          </p:nvSpPr>
          <p:spPr>
            <a:xfrm>
              <a:off x="3870550" y="1501650"/>
              <a:ext cx="1156750" cy="928725"/>
            </a:xfrm>
            <a:custGeom>
              <a:avLst/>
              <a:gdLst/>
              <a:ahLst/>
              <a:cxnLst/>
              <a:rect l="l" t="t" r="r" b="b"/>
              <a:pathLst>
                <a:path w="46270" h="37149" extrusionOk="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" sz="2700" b="0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2" name="Google Shape;1452;p22"/>
            <p:cNvSpPr/>
            <p:nvPr/>
          </p:nvSpPr>
          <p:spPr>
            <a:xfrm>
              <a:off x="2575300" y="1501650"/>
              <a:ext cx="1156725" cy="928725"/>
            </a:xfrm>
            <a:custGeom>
              <a:avLst/>
              <a:gdLst/>
              <a:ahLst/>
              <a:cxnLst/>
              <a:rect l="l" t="t" r="r" b="b"/>
              <a:pathLst>
                <a:path w="46269" h="37149" extrusionOk="0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" sz="2700" b="0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3" name="Google Shape;1453;p22"/>
            <p:cNvSpPr/>
            <p:nvPr/>
          </p:nvSpPr>
          <p:spPr>
            <a:xfrm>
              <a:off x="2344100" y="2289425"/>
              <a:ext cx="732375" cy="1335650"/>
            </a:xfrm>
            <a:custGeom>
              <a:avLst/>
              <a:gdLst/>
              <a:ahLst/>
              <a:cxnLst/>
              <a:rect l="l" t="t" r="r" b="b"/>
              <a:pathLst>
                <a:path w="29295" h="53426" extrusionOk="0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" sz="2700" b="0" i="0" u="none" strike="noStrike" cap="non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54" name="Google Shape;1454;p22"/>
            <p:cNvSpPr/>
            <p:nvPr/>
          </p:nvSpPr>
          <p:spPr>
            <a:xfrm>
              <a:off x="4089075" y="2487350"/>
              <a:ext cx="1600" cy="14275"/>
            </a:xfrm>
            <a:custGeom>
              <a:avLst/>
              <a:gdLst/>
              <a:ahLst/>
              <a:cxnLst/>
              <a:rect l="l" t="t" r="r" b="b"/>
              <a:pathLst>
                <a:path w="64" h="57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22"/>
            <p:cNvSpPr/>
            <p:nvPr/>
          </p:nvSpPr>
          <p:spPr>
            <a:xfrm>
              <a:off x="4033650" y="2449350"/>
              <a:ext cx="17450" cy="800"/>
            </a:xfrm>
            <a:custGeom>
              <a:avLst/>
              <a:gdLst/>
              <a:ahLst/>
              <a:cxnLst/>
              <a:rect l="l" t="t" r="r" b="b"/>
              <a:pathLst>
                <a:path w="698" h="32" extrusionOk="0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0" name="Google Shape;1460;p23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461" name="Google Shape;1461;p23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7" name="Google Shape;1527;p23"/>
          <p:cNvSpPr txBox="1"/>
          <p:nvPr/>
        </p:nvSpPr>
        <p:spPr>
          <a:xfrm>
            <a:off x="2496950" y="567113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Образование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528" name="Google Shape;1528;p23"/>
          <p:cNvSpPr txBox="1"/>
          <p:nvPr/>
        </p:nvSpPr>
        <p:spPr>
          <a:xfrm>
            <a:off x="149150" y="1274625"/>
            <a:ext cx="2202000" cy="1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федеральный университет имени Б. Н. Ельцина (УрФУ)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9" name="Google Shape;1529;p23"/>
          <p:cNvSpPr txBox="1"/>
          <p:nvPr/>
        </p:nvSpPr>
        <p:spPr>
          <a:xfrm>
            <a:off x="149150" y="2569925"/>
            <a:ext cx="2202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лесотехнический университет (УГЛТУ)</a:t>
            </a:r>
            <a:endParaRPr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0" name="Google Shape;1530;p23"/>
          <p:cNvSpPr txBox="1"/>
          <p:nvPr/>
        </p:nvSpPr>
        <p:spPr>
          <a:xfrm>
            <a:off x="0" y="3580275"/>
            <a:ext cx="23448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горный университет (УГГУ)</a:t>
            </a:r>
            <a:endParaRPr sz="20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1" name="Google Shape;1531;p23"/>
          <p:cNvSpPr txBox="1"/>
          <p:nvPr/>
        </p:nvSpPr>
        <p:spPr>
          <a:xfrm>
            <a:off x="6846300" y="2569925"/>
            <a:ext cx="1963200" cy="12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Южно-уральский государственный аграрный университет (ЮУрГАУ)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2" name="Google Shape;1532;p23"/>
          <p:cNvSpPr txBox="1"/>
          <p:nvPr/>
        </p:nvSpPr>
        <p:spPr>
          <a:xfrm>
            <a:off x="6846300" y="1279125"/>
            <a:ext cx="220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аграрный университет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320</Words>
  <Application>Microsoft Office PowerPoint</Application>
  <PresentationFormat>Экран (16:9)</PresentationFormat>
  <Paragraphs>69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Fira Sans SemiBold</vt:lpstr>
      <vt:lpstr>Montserrat Medium</vt:lpstr>
      <vt:lpstr>Fira Sans</vt:lpstr>
      <vt:lpstr>Dela Gothic One</vt:lpstr>
      <vt:lpstr>Montserrat</vt:lpstr>
      <vt:lpstr>Fira Sans Medium</vt:lpstr>
      <vt:lpstr>Technology Infographics by Slidesgo</vt:lpstr>
      <vt:lpstr>Презентация PowerPoint</vt:lpstr>
      <vt:lpstr>   Инженер-эколог —  это специалист, работающий на стыке инженерии и экологии. Эта профессия включает в себя изучение воздействия производственной и промышленной деятельности на экологическое равновесие, снижение воздействия человеческой деятельности на природу и устойчивое использование ресурсов.</vt:lpstr>
      <vt:lpstr>История профессии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Святослав Самарин</cp:lastModifiedBy>
  <cp:revision>2</cp:revision>
  <dcterms:modified xsi:type="dcterms:W3CDTF">2025-11-02T07:59:18Z</dcterms:modified>
</cp:coreProperties>
</file>